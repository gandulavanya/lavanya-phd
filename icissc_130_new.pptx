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20"/>
  </p:notesMasterIdLst>
  <p:sldIdLst>
    <p:sldId id="256" r:id="rId2"/>
    <p:sldId id="257" r:id="rId3"/>
    <p:sldId id="258" r:id="rId4"/>
    <p:sldId id="259" r:id="rId5"/>
    <p:sldId id="260" r:id="rId6"/>
    <p:sldId id="261" r:id="rId7"/>
    <p:sldId id="271" r:id="rId8"/>
    <p:sldId id="262" r:id="rId9"/>
    <p:sldId id="263" r:id="rId10"/>
    <p:sldId id="272" r:id="rId11"/>
    <p:sldId id="264" r:id="rId12"/>
    <p:sldId id="265" r:id="rId13"/>
    <p:sldId id="273" r:id="rId14"/>
    <p:sldId id="274" r:id="rId15"/>
    <p:sldId id="275" r:id="rId16"/>
    <p:sldId id="266" r:id="rId17"/>
    <p:sldId id="267" r:id="rId18"/>
    <p:sldId id="26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92B2"/>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59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2060623724861556E-2"/>
          <c:y val="0.10687393733300947"/>
          <c:w val="0.9183911396094433"/>
          <c:h val="0.68094725346603957"/>
        </c:manualLayout>
      </c:layout>
      <c:barChart>
        <c:barDir val="col"/>
        <c:grouping val="clustered"/>
        <c:varyColors val="0"/>
        <c:ser>
          <c:idx val="0"/>
          <c:order val="0"/>
          <c:tx>
            <c:strRef>
              <c:f>Sheet1!$B$4</c:f>
              <c:strCache>
                <c:ptCount val="1"/>
                <c:pt idx="0">
                  <c:v>DT</c:v>
                </c:pt>
              </c:strCache>
            </c:strRef>
          </c:tx>
          <c:spPr>
            <a:solidFill>
              <a:srgbClr val="FFFF00"/>
            </a:solidFill>
            <a:ln>
              <a:solidFill>
                <a:srgbClr val="002060"/>
              </a:solid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Sheet1!$C$3:$F$3</c:f>
              <c:strCache>
                <c:ptCount val="4"/>
                <c:pt idx="0">
                  <c:v>Accuracy</c:v>
                </c:pt>
                <c:pt idx="1">
                  <c:v>Precision </c:v>
                </c:pt>
                <c:pt idx="2">
                  <c:v>Recall</c:v>
                </c:pt>
                <c:pt idx="3">
                  <c:v>F1-score</c:v>
                </c:pt>
              </c:strCache>
            </c:strRef>
          </c:cat>
          <c:val>
            <c:numRef>
              <c:f>Sheet1!$C$4:$F$4</c:f>
              <c:numCache>
                <c:formatCode>General</c:formatCode>
                <c:ptCount val="4"/>
                <c:pt idx="0">
                  <c:v>99.03</c:v>
                </c:pt>
                <c:pt idx="1">
                  <c:v>81</c:v>
                </c:pt>
                <c:pt idx="2">
                  <c:v>65</c:v>
                </c:pt>
                <c:pt idx="3">
                  <c:v>67</c:v>
                </c:pt>
              </c:numCache>
            </c:numRef>
          </c:val>
          <c:extLst xmlns:c16r2="http://schemas.microsoft.com/office/drawing/2015/06/chart">
            <c:ext xmlns:c16="http://schemas.microsoft.com/office/drawing/2014/chart" uri="{C3380CC4-5D6E-409C-BE32-E72D297353CC}">
              <c16:uniqueId val="{00000000-41D3-4133-873E-5F6F9E889FBA}"/>
            </c:ext>
          </c:extLst>
        </c:ser>
        <c:ser>
          <c:idx val="1"/>
          <c:order val="1"/>
          <c:tx>
            <c:strRef>
              <c:f>Sheet1!$B$5</c:f>
              <c:strCache>
                <c:ptCount val="1"/>
                <c:pt idx="0">
                  <c:v>RF</c:v>
                </c:pt>
              </c:strCache>
            </c:strRef>
          </c:tx>
          <c:spPr>
            <a:solidFill>
              <a:srgbClr val="00B050"/>
            </a:solidFill>
            <a:ln>
              <a:solidFill>
                <a:srgbClr val="002060"/>
              </a:solid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Sheet1!$C$3:$F$3</c:f>
              <c:strCache>
                <c:ptCount val="4"/>
                <c:pt idx="0">
                  <c:v>Accuracy</c:v>
                </c:pt>
                <c:pt idx="1">
                  <c:v>Precision </c:v>
                </c:pt>
                <c:pt idx="2">
                  <c:v>Recall</c:v>
                </c:pt>
                <c:pt idx="3">
                  <c:v>F1-score</c:v>
                </c:pt>
              </c:strCache>
            </c:strRef>
          </c:cat>
          <c:val>
            <c:numRef>
              <c:f>Sheet1!$C$5:$F$5</c:f>
              <c:numCache>
                <c:formatCode>General</c:formatCode>
                <c:ptCount val="4"/>
                <c:pt idx="0">
                  <c:v>99</c:v>
                </c:pt>
                <c:pt idx="1">
                  <c:v>81</c:v>
                </c:pt>
                <c:pt idx="2">
                  <c:v>76</c:v>
                </c:pt>
                <c:pt idx="3">
                  <c:v>78</c:v>
                </c:pt>
              </c:numCache>
            </c:numRef>
          </c:val>
          <c:extLst xmlns:c16r2="http://schemas.microsoft.com/office/drawing/2015/06/chart">
            <c:ext xmlns:c16="http://schemas.microsoft.com/office/drawing/2014/chart" uri="{C3380CC4-5D6E-409C-BE32-E72D297353CC}">
              <c16:uniqueId val="{00000001-41D3-4133-873E-5F6F9E889FBA}"/>
            </c:ext>
          </c:extLst>
        </c:ser>
        <c:ser>
          <c:idx val="2"/>
          <c:order val="2"/>
          <c:tx>
            <c:strRef>
              <c:f>Sheet1!$B$6</c:f>
              <c:strCache>
                <c:ptCount val="1"/>
                <c:pt idx="0">
                  <c:v>DT with tuned parameters</c:v>
                </c:pt>
              </c:strCache>
            </c:strRef>
          </c:tx>
          <c:spPr>
            <a:solidFill>
              <a:srgbClr val="00B0F0"/>
            </a:solidFill>
            <a:ln>
              <a:solidFill>
                <a:srgbClr val="002060"/>
              </a:solid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Sheet1!$C$3:$F$3</c:f>
              <c:strCache>
                <c:ptCount val="4"/>
                <c:pt idx="0">
                  <c:v>Accuracy</c:v>
                </c:pt>
                <c:pt idx="1">
                  <c:v>Precision </c:v>
                </c:pt>
                <c:pt idx="2">
                  <c:v>Recall</c:v>
                </c:pt>
                <c:pt idx="3">
                  <c:v>F1-score</c:v>
                </c:pt>
              </c:strCache>
            </c:strRef>
          </c:cat>
          <c:val>
            <c:numRef>
              <c:f>Sheet1!$C$6:$F$6</c:f>
              <c:numCache>
                <c:formatCode>General</c:formatCode>
                <c:ptCount val="4"/>
                <c:pt idx="0">
                  <c:v>99.82</c:v>
                </c:pt>
                <c:pt idx="1">
                  <c:v>84</c:v>
                </c:pt>
                <c:pt idx="2">
                  <c:v>81</c:v>
                </c:pt>
                <c:pt idx="3">
                  <c:v>82</c:v>
                </c:pt>
              </c:numCache>
            </c:numRef>
          </c:val>
          <c:extLst xmlns:c16r2="http://schemas.microsoft.com/office/drawing/2015/06/chart">
            <c:ext xmlns:c16="http://schemas.microsoft.com/office/drawing/2014/chart" uri="{C3380CC4-5D6E-409C-BE32-E72D297353CC}">
              <c16:uniqueId val="{00000002-41D3-4133-873E-5F6F9E889FBA}"/>
            </c:ext>
          </c:extLst>
        </c:ser>
        <c:ser>
          <c:idx val="3"/>
          <c:order val="3"/>
          <c:tx>
            <c:strRef>
              <c:f>Sheet1!$B$7</c:f>
              <c:strCache>
                <c:ptCount val="1"/>
                <c:pt idx="0">
                  <c:v>RF with tuned parameters</c:v>
                </c:pt>
              </c:strCache>
            </c:strRef>
          </c:tx>
          <c:spPr>
            <a:solidFill>
              <a:srgbClr val="FF0000"/>
            </a:solidFill>
            <a:ln>
              <a:solidFill>
                <a:srgbClr val="002060"/>
              </a:solid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Sheet1!$C$3:$F$3</c:f>
              <c:strCache>
                <c:ptCount val="4"/>
                <c:pt idx="0">
                  <c:v>Accuracy</c:v>
                </c:pt>
                <c:pt idx="1">
                  <c:v>Precision </c:v>
                </c:pt>
                <c:pt idx="2">
                  <c:v>Recall</c:v>
                </c:pt>
                <c:pt idx="3">
                  <c:v>F1-score</c:v>
                </c:pt>
              </c:strCache>
            </c:strRef>
          </c:cat>
          <c:val>
            <c:numRef>
              <c:f>Sheet1!$C$7:$F$7</c:f>
              <c:numCache>
                <c:formatCode>General</c:formatCode>
                <c:ptCount val="4"/>
                <c:pt idx="0">
                  <c:v>99.79</c:v>
                </c:pt>
                <c:pt idx="1">
                  <c:v>97</c:v>
                </c:pt>
                <c:pt idx="2">
                  <c:v>81</c:v>
                </c:pt>
                <c:pt idx="3">
                  <c:v>84</c:v>
                </c:pt>
              </c:numCache>
            </c:numRef>
          </c:val>
          <c:extLst xmlns:c16r2="http://schemas.microsoft.com/office/drawing/2015/06/chart">
            <c:ext xmlns:c16="http://schemas.microsoft.com/office/drawing/2014/chart" uri="{C3380CC4-5D6E-409C-BE32-E72D297353CC}">
              <c16:uniqueId val="{00000003-41D3-4133-873E-5F6F9E889FBA}"/>
            </c:ext>
          </c:extLst>
        </c:ser>
        <c:dLbls>
          <c:dLblPos val="outEnd"/>
          <c:showLegendKey val="0"/>
          <c:showVal val="1"/>
          <c:showCatName val="0"/>
          <c:showSerName val="0"/>
          <c:showPercent val="0"/>
          <c:showBubbleSize val="0"/>
        </c:dLbls>
        <c:gapWidth val="219"/>
        <c:overlap val="-27"/>
        <c:axId val="944734544"/>
        <c:axId val="944730736"/>
      </c:barChart>
      <c:catAx>
        <c:axId val="9447345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944730736"/>
        <c:crosses val="autoZero"/>
        <c:auto val="0"/>
        <c:lblAlgn val="ctr"/>
        <c:lblOffset val="100"/>
        <c:noMultiLvlLbl val="0"/>
      </c:catAx>
      <c:valAx>
        <c:axId val="944730736"/>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9447345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4C09C6-C8B9-4C0B-87ED-A5CA3289F73C}" type="datetimeFigureOut">
              <a:rPr lang="en-IN" smtClean="0"/>
              <a:t>20-12-2024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B34ADD-0277-4571-B127-4D09A462F258}" type="slidenum">
              <a:rPr lang="en-IN" smtClean="0"/>
              <a:t>‹#›</a:t>
            </a:fld>
            <a:endParaRPr lang="en-IN"/>
          </a:p>
        </p:txBody>
      </p:sp>
    </p:spTree>
    <p:extLst>
      <p:ext uri="{BB962C8B-B14F-4D97-AF65-F5344CB8AC3E}">
        <p14:creationId xmlns:p14="http://schemas.microsoft.com/office/powerpoint/2010/main" val="2794050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5B34ADD-0277-4571-B127-4D09A462F258}" type="slidenum">
              <a:rPr lang="en-IN" smtClean="0"/>
              <a:t>17</a:t>
            </a:fld>
            <a:endParaRPr lang="en-IN"/>
          </a:p>
        </p:txBody>
      </p:sp>
    </p:spTree>
    <p:extLst>
      <p:ext uri="{BB962C8B-B14F-4D97-AF65-F5344CB8AC3E}">
        <p14:creationId xmlns:p14="http://schemas.microsoft.com/office/powerpoint/2010/main" val="29584794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20FCAF39-C57E-4A0C-A120-0FAFB729E6F3}" type="datetime1">
              <a:rPr lang="en-IN" smtClean="0"/>
              <a:t>20-12-2024</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IN"/>
              <a:t>Ms.Gandu Lavanya, Dept. of Computer Science Engg., Malla Reddy University</a:t>
            </a:r>
          </a:p>
        </p:txBody>
      </p:sp>
    </p:spTree>
    <p:extLst>
      <p:ext uri="{BB962C8B-B14F-4D97-AF65-F5344CB8AC3E}">
        <p14:creationId xmlns:p14="http://schemas.microsoft.com/office/powerpoint/2010/main" val="4207424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4A9409-2C1D-407B-9051-8EB001418F88}" type="datetime1">
              <a:rPr lang="en-IN" smtClean="0"/>
              <a:t>20-12-2024</a:t>
            </a:fld>
            <a:endParaRPr lang="en-IN"/>
          </a:p>
        </p:txBody>
      </p:sp>
      <p:sp>
        <p:nvSpPr>
          <p:cNvPr id="5" name="Footer Placeholder 4"/>
          <p:cNvSpPr>
            <a:spLocks noGrp="1"/>
          </p:cNvSpPr>
          <p:nvPr>
            <p:ph type="ftr" sz="quarter" idx="11"/>
          </p:nvPr>
        </p:nvSpPr>
        <p:spPr/>
        <p:txBody>
          <a:bodyPr/>
          <a:lstStyle/>
          <a:p>
            <a:r>
              <a:rPr lang="en-IN"/>
              <a:t>Ms.Gandu Lavanya, Dept. of Computer Science Engg., Malla Reddy University</a:t>
            </a:r>
          </a:p>
        </p:txBody>
      </p:sp>
      <p:sp>
        <p:nvSpPr>
          <p:cNvPr id="6" name="Slide Number Placeholder 5"/>
          <p:cNvSpPr>
            <a:spLocks noGrp="1"/>
          </p:cNvSpPr>
          <p:nvPr>
            <p:ph type="sldNum" sz="quarter" idx="12"/>
          </p:nvPr>
        </p:nvSpPr>
        <p:spPr/>
        <p:txBody>
          <a:bodyPr/>
          <a:lstStyle/>
          <a:p>
            <a:fld id="{0B712F8A-C0D1-4E37-8851-7408E5047F0E}" type="slidenum">
              <a:rPr lang="en-IN" smtClean="0"/>
              <a:t>‹#›</a:t>
            </a:fld>
            <a:endParaRPr lang="en-IN"/>
          </a:p>
        </p:txBody>
      </p:sp>
    </p:spTree>
    <p:extLst>
      <p:ext uri="{BB962C8B-B14F-4D97-AF65-F5344CB8AC3E}">
        <p14:creationId xmlns:p14="http://schemas.microsoft.com/office/powerpoint/2010/main" val="35474342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440371-A270-4409-B515-73E48AA2616A}" type="datetime1">
              <a:rPr lang="en-IN" smtClean="0"/>
              <a:t>20-12-2024</a:t>
            </a:fld>
            <a:endParaRPr lang="en-IN"/>
          </a:p>
        </p:txBody>
      </p:sp>
      <p:sp>
        <p:nvSpPr>
          <p:cNvPr id="5" name="Footer Placeholder 4"/>
          <p:cNvSpPr>
            <a:spLocks noGrp="1"/>
          </p:cNvSpPr>
          <p:nvPr>
            <p:ph type="ftr" sz="quarter" idx="11"/>
          </p:nvPr>
        </p:nvSpPr>
        <p:spPr/>
        <p:txBody>
          <a:bodyPr/>
          <a:lstStyle/>
          <a:p>
            <a:r>
              <a:rPr lang="en-IN"/>
              <a:t>Ms.Gandu Lavanya, Dept. of Computer Science Engg., Malla Reddy University</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B712F8A-C0D1-4E37-8851-7408E5047F0E}" type="slidenum">
              <a:rPr lang="en-IN" smtClean="0"/>
              <a:t>‹#›</a:t>
            </a:fld>
            <a:endParaRPr lang="en-IN"/>
          </a:p>
        </p:txBody>
      </p:sp>
    </p:spTree>
    <p:extLst>
      <p:ext uri="{BB962C8B-B14F-4D97-AF65-F5344CB8AC3E}">
        <p14:creationId xmlns:p14="http://schemas.microsoft.com/office/powerpoint/2010/main" val="2213605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D121AFF-86BF-430D-BBD6-7F8EB10DEF03}" type="datetime1">
              <a:rPr lang="en-IN" smtClean="0"/>
              <a:t>20-12-2024</a:t>
            </a:fld>
            <a:endParaRPr lang="en-IN"/>
          </a:p>
        </p:txBody>
      </p:sp>
      <p:sp>
        <p:nvSpPr>
          <p:cNvPr id="6" name="Footer Placeholder 5"/>
          <p:cNvSpPr>
            <a:spLocks noGrp="1"/>
          </p:cNvSpPr>
          <p:nvPr>
            <p:ph type="ftr" sz="quarter" idx="11"/>
          </p:nvPr>
        </p:nvSpPr>
        <p:spPr/>
        <p:txBody>
          <a:bodyPr/>
          <a:lstStyle/>
          <a:p>
            <a:r>
              <a:rPr lang="en-IN"/>
              <a:t>Ms.Gandu Lavanya, Dept. of Computer Science Engg., Malla Reddy University</a:t>
            </a:r>
          </a:p>
        </p:txBody>
      </p:sp>
      <p:sp>
        <p:nvSpPr>
          <p:cNvPr id="7" name="Slide Number Placeholder 6"/>
          <p:cNvSpPr>
            <a:spLocks noGrp="1"/>
          </p:cNvSpPr>
          <p:nvPr>
            <p:ph type="sldNum" sz="quarter" idx="12"/>
          </p:nvPr>
        </p:nvSpPr>
        <p:spPr/>
        <p:txBody>
          <a:bodyPr/>
          <a:lstStyle/>
          <a:p>
            <a:fld id="{0B712F8A-C0D1-4E37-8851-7408E5047F0E}" type="slidenum">
              <a:rPr lang="en-IN" smtClean="0"/>
              <a:t>‹#›</a:t>
            </a:fld>
            <a:endParaRPr lang="en-IN"/>
          </a:p>
        </p:txBody>
      </p:sp>
    </p:spTree>
    <p:extLst>
      <p:ext uri="{BB962C8B-B14F-4D97-AF65-F5344CB8AC3E}">
        <p14:creationId xmlns:p14="http://schemas.microsoft.com/office/powerpoint/2010/main" val="2002125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4EA74D-9C2C-40D8-AA69-4514DC0DA27F}" type="datetime1">
              <a:rPr lang="en-IN" smtClean="0"/>
              <a:t>20-12-2024</a:t>
            </a:fld>
            <a:endParaRPr lang="en-IN"/>
          </a:p>
        </p:txBody>
      </p:sp>
      <p:sp>
        <p:nvSpPr>
          <p:cNvPr id="8" name="Footer Placeholder 7"/>
          <p:cNvSpPr>
            <a:spLocks noGrp="1"/>
          </p:cNvSpPr>
          <p:nvPr>
            <p:ph type="ftr" sz="quarter" idx="11"/>
          </p:nvPr>
        </p:nvSpPr>
        <p:spPr/>
        <p:txBody>
          <a:bodyPr/>
          <a:lstStyle/>
          <a:p>
            <a:r>
              <a:rPr lang="en-IN"/>
              <a:t>Ms.Gandu Lavanya, Dept. of Computer Science Engg., Malla Reddy University</a:t>
            </a:r>
          </a:p>
        </p:txBody>
      </p:sp>
      <p:sp>
        <p:nvSpPr>
          <p:cNvPr id="9" name="Slide Number Placeholder 8"/>
          <p:cNvSpPr>
            <a:spLocks noGrp="1"/>
          </p:cNvSpPr>
          <p:nvPr>
            <p:ph type="sldNum" sz="quarter" idx="12"/>
          </p:nvPr>
        </p:nvSpPr>
        <p:spPr/>
        <p:txBody>
          <a:bodyPr/>
          <a:lstStyle/>
          <a:p>
            <a:fld id="{0B712F8A-C0D1-4E37-8851-7408E5047F0E}" type="slidenum">
              <a:rPr lang="en-IN" smtClean="0"/>
              <a:t>‹#›</a:t>
            </a:fld>
            <a:endParaRPr lang="en-IN"/>
          </a:p>
        </p:txBody>
      </p:sp>
    </p:spTree>
    <p:extLst>
      <p:ext uri="{BB962C8B-B14F-4D97-AF65-F5344CB8AC3E}">
        <p14:creationId xmlns:p14="http://schemas.microsoft.com/office/powerpoint/2010/main" val="603580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4F887BA-41F7-4453-95AD-18561F79B3F3}" type="datetime1">
              <a:rPr lang="en-IN" smtClean="0"/>
              <a:t>20-12-2024</a:t>
            </a:fld>
            <a:endParaRPr lang="en-IN"/>
          </a:p>
        </p:txBody>
      </p:sp>
      <p:sp>
        <p:nvSpPr>
          <p:cNvPr id="4" name="Footer Placeholder 3"/>
          <p:cNvSpPr>
            <a:spLocks noGrp="1"/>
          </p:cNvSpPr>
          <p:nvPr>
            <p:ph type="ftr" sz="quarter" idx="11"/>
          </p:nvPr>
        </p:nvSpPr>
        <p:spPr/>
        <p:txBody>
          <a:bodyPr/>
          <a:lstStyle/>
          <a:p>
            <a:r>
              <a:rPr lang="en-IN"/>
              <a:t>Ms.Gandu Lavanya, Dept. of Computer Science Engg., Malla Reddy University</a:t>
            </a:r>
          </a:p>
        </p:txBody>
      </p:sp>
      <p:sp>
        <p:nvSpPr>
          <p:cNvPr id="5" name="Slide Number Placeholder 4"/>
          <p:cNvSpPr>
            <a:spLocks noGrp="1"/>
          </p:cNvSpPr>
          <p:nvPr>
            <p:ph type="sldNum" sz="quarter" idx="12"/>
          </p:nvPr>
        </p:nvSpPr>
        <p:spPr/>
        <p:txBody>
          <a:bodyPr/>
          <a:lstStyle/>
          <a:p>
            <a:fld id="{0B712F8A-C0D1-4E37-8851-7408E5047F0E}" type="slidenum">
              <a:rPr lang="en-IN" smtClean="0"/>
              <a:t>‹#›</a:t>
            </a:fld>
            <a:endParaRPr lang="en-IN"/>
          </a:p>
        </p:txBody>
      </p:sp>
    </p:spTree>
    <p:extLst>
      <p:ext uri="{BB962C8B-B14F-4D97-AF65-F5344CB8AC3E}">
        <p14:creationId xmlns:p14="http://schemas.microsoft.com/office/powerpoint/2010/main" val="1395689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637501-E85C-4BC6-8EF2-7008D770B643}" type="datetime1">
              <a:rPr lang="en-IN" smtClean="0"/>
              <a:t>20-12-2024</a:t>
            </a:fld>
            <a:endParaRPr lang="en-IN"/>
          </a:p>
        </p:txBody>
      </p:sp>
      <p:sp>
        <p:nvSpPr>
          <p:cNvPr id="3" name="Footer Placeholder 2"/>
          <p:cNvSpPr>
            <a:spLocks noGrp="1"/>
          </p:cNvSpPr>
          <p:nvPr>
            <p:ph type="ftr" sz="quarter" idx="11"/>
          </p:nvPr>
        </p:nvSpPr>
        <p:spPr/>
        <p:txBody>
          <a:bodyPr/>
          <a:lstStyle/>
          <a:p>
            <a:r>
              <a:rPr lang="en-IN"/>
              <a:t>Ms.Gandu Lavanya, Dept. of Computer Science Engg., Malla Reddy University</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B712F8A-C0D1-4E37-8851-7408E5047F0E}" type="slidenum">
              <a:rPr lang="en-IN" smtClean="0"/>
              <a:t>‹#›</a:t>
            </a:fld>
            <a:endParaRPr lang="en-IN"/>
          </a:p>
        </p:txBody>
      </p:sp>
    </p:spTree>
    <p:extLst>
      <p:ext uri="{BB962C8B-B14F-4D97-AF65-F5344CB8AC3E}">
        <p14:creationId xmlns:p14="http://schemas.microsoft.com/office/powerpoint/2010/main" val="1544327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E0BC0E-D94A-4912-B97E-509D4F4284F5}" type="datetime1">
              <a:rPr lang="en-IN" smtClean="0"/>
              <a:t>20-12-2024</a:t>
            </a:fld>
            <a:endParaRPr lang="en-IN"/>
          </a:p>
        </p:txBody>
      </p:sp>
      <p:sp>
        <p:nvSpPr>
          <p:cNvPr id="6" name="Footer Placeholder 5"/>
          <p:cNvSpPr>
            <a:spLocks noGrp="1"/>
          </p:cNvSpPr>
          <p:nvPr>
            <p:ph type="ftr" sz="quarter" idx="11"/>
          </p:nvPr>
        </p:nvSpPr>
        <p:spPr/>
        <p:txBody>
          <a:bodyPr/>
          <a:lstStyle/>
          <a:p>
            <a:r>
              <a:rPr lang="en-IN"/>
              <a:t>Ms.Gandu Lavanya, Dept. of Computer Science Engg., Malla Reddy University</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B712F8A-C0D1-4E37-8851-7408E5047F0E}" type="slidenum">
              <a:rPr lang="en-IN" smtClean="0"/>
              <a:t>‹#›</a:t>
            </a:fld>
            <a:endParaRPr lang="en-IN"/>
          </a:p>
        </p:txBody>
      </p:sp>
    </p:spTree>
    <p:extLst>
      <p:ext uri="{BB962C8B-B14F-4D97-AF65-F5344CB8AC3E}">
        <p14:creationId xmlns:p14="http://schemas.microsoft.com/office/powerpoint/2010/main" val="2791378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699C448-612D-4C5D-88BB-81BF1A2C48F1}" type="datetime1">
              <a:rPr lang="en-IN" smtClean="0"/>
              <a:t>20-12-2024</a:t>
            </a:fld>
            <a:endParaRPr lang="en-IN"/>
          </a:p>
        </p:txBody>
      </p:sp>
      <p:sp>
        <p:nvSpPr>
          <p:cNvPr id="6" name="Footer Placeholder 5"/>
          <p:cNvSpPr>
            <a:spLocks noGrp="1"/>
          </p:cNvSpPr>
          <p:nvPr>
            <p:ph type="ftr" sz="quarter" idx="11"/>
          </p:nvPr>
        </p:nvSpPr>
        <p:spPr/>
        <p:txBody>
          <a:bodyPr/>
          <a:lstStyle/>
          <a:p>
            <a:r>
              <a:rPr lang="en-IN"/>
              <a:t>Ms.Gandu Lavanya, Dept. of Computer Science Engg., Malla Reddy University</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B712F8A-C0D1-4E37-8851-7408E5047F0E}" type="slidenum">
              <a:rPr lang="en-IN" smtClean="0"/>
              <a:t>‹#›</a:t>
            </a:fld>
            <a:endParaRPr lang="en-IN"/>
          </a:p>
        </p:txBody>
      </p:sp>
    </p:spTree>
    <p:extLst>
      <p:ext uri="{BB962C8B-B14F-4D97-AF65-F5344CB8AC3E}">
        <p14:creationId xmlns:p14="http://schemas.microsoft.com/office/powerpoint/2010/main" val="1792224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C33252-A4E4-44E5-AFCC-3938D2270C5E}" type="datetime1">
              <a:rPr lang="en-IN" smtClean="0"/>
              <a:t>20-12-2024</a:t>
            </a:fld>
            <a:endParaRPr lang="en-IN"/>
          </a:p>
        </p:txBody>
      </p:sp>
      <p:sp>
        <p:nvSpPr>
          <p:cNvPr id="6" name="Footer Placeholder 5"/>
          <p:cNvSpPr>
            <a:spLocks noGrp="1"/>
          </p:cNvSpPr>
          <p:nvPr>
            <p:ph type="ftr" sz="quarter" idx="11"/>
          </p:nvPr>
        </p:nvSpPr>
        <p:spPr/>
        <p:txBody>
          <a:bodyPr/>
          <a:lstStyle/>
          <a:p>
            <a:r>
              <a:rPr lang="en-IN"/>
              <a:t>Ms.Gandu Lavanya, Dept. of Computer Science Engg., Malla Reddy University</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B712F8A-C0D1-4E37-8851-7408E5047F0E}" type="slidenum">
              <a:rPr lang="en-IN" smtClean="0"/>
              <a:t>‹#›</a:t>
            </a:fld>
            <a:endParaRPr lang="en-IN"/>
          </a:p>
        </p:txBody>
      </p:sp>
    </p:spTree>
    <p:extLst>
      <p:ext uri="{BB962C8B-B14F-4D97-AF65-F5344CB8AC3E}">
        <p14:creationId xmlns:p14="http://schemas.microsoft.com/office/powerpoint/2010/main" val="2181192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E25B85D-04D8-43E3-8211-E1D86005CF08}" type="datetime1">
              <a:rPr lang="en-IN" smtClean="0"/>
              <a:t>20-12-2024</a:t>
            </a:fld>
            <a:endParaRPr lang="en-IN"/>
          </a:p>
        </p:txBody>
      </p:sp>
      <p:sp>
        <p:nvSpPr>
          <p:cNvPr id="5" name="Footer Placeholder 4"/>
          <p:cNvSpPr>
            <a:spLocks noGrp="1"/>
          </p:cNvSpPr>
          <p:nvPr>
            <p:ph type="ftr" sz="quarter" idx="11"/>
          </p:nvPr>
        </p:nvSpPr>
        <p:spPr/>
        <p:txBody>
          <a:bodyPr/>
          <a:lstStyle/>
          <a:p>
            <a:r>
              <a:rPr lang="en-IN"/>
              <a:t>Ms.Gandu Lavanya, Dept. of Computer Science Engg., Malla Reddy University</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B712F8A-C0D1-4E37-8851-7408E5047F0E}" type="slidenum">
              <a:rPr lang="en-IN" smtClean="0"/>
              <a:t>‹#›</a:t>
            </a:fld>
            <a:endParaRPr lang="en-IN"/>
          </a:p>
        </p:txBody>
      </p:sp>
    </p:spTree>
    <p:extLst>
      <p:ext uri="{BB962C8B-B14F-4D97-AF65-F5344CB8AC3E}">
        <p14:creationId xmlns:p14="http://schemas.microsoft.com/office/powerpoint/2010/main" val="29915685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DA6FDB2-C4FE-4D11-959B-BB79196CA465}" type="datetime1">
              <a:rPr lang="en-IN" smtClean="0"/>
              <a:t>20-12-2024</a:t>
            </a:fld>
            <a:endParaRPr lang="en-IN"/>
          </a:p>
        </p:txBody>
      </p:sp>
      <p:sp>
        <p:nvSpPr>
          <p:cNvPr id="5" name="Footer Placeholder 4"/>
          <p:cNvSpPr>
            <a:spLocks noGrp="1"/>
          </p:cNvSpPr>
          <p:nvPr>
            <p:ph type="ftr" sz="quarter" idx="11"/>
          </p:nvPr>
        </p:nvSpPr>
        <p:spPr/>
        <p:txBody>
          <a:bodyPr/>
          <a:lstStyle/>
          <a:p>
            <a:r>
              <a:rPr lang="en-IN"/>
              <a:t>Ms.Gandu Lavanya, Dept. of Computer Science Engg., Malla Reddy University</a:t>
            </a: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B712F8A-C0D1-4E37-8851-7408E5047F0E}" type="slidenum">
              <a:rPr lang="en-IN" smtClean="0"/>
              <a:t>‹#›</a:t>
            </a:fld>
            <a:endParaRPr lang="en-IN"/>
          </a:p>
        </p:txBody>
      </p:sp>
    </p:spTree>
    <p:extLst>
      <p:ext uri="{BB962C8B-B14F-4D97-AF65-F5344CB8AC3E}">
        <p14:creationId xmlns:p14="http://schemas.microsoft.com/office/powerpoint/2010/main" val="315158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FD52A5-18DE-4786-A4DF-191DD3F37392}" type="datetime1">
              <a:rPr lang="en-IN" smtClean="0"/>
              <a:t>20-12-2024</a:t>
            </a:fld>
            <a:endParaRPr lang="en-IN"/>
          </a:p>
        </p:txBody>
      </p:sp>
      <p:sp>
        <p:nvSpPr>
          <p:cNvPr id="5" name="Footer Placeholder 4"/>
          <p:cNvSpPr>
            <a:spLocks noGrp="1"/>
          </p:cNvSpPr>
          <p:nvPr>
            <p:ph type="ftr" sz="quarter" idx="11"/>
          </p:nvPr>
        </p:nvSpPr>
        <p:spPr/>
        <p:txBody>
          <a:bodyPr/>
          <a:lstStyle/>
          <a:p>
            <a:r>
              <a:rPr lang="en-IN"/>
              <a:t>Ms.Gandu Lavanya, Dept. of Computer Science Engg., Malla Reddy University</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B712F8A-C0D1-4E37-8851-7408E5047F0E}" type="slidenum">
              <a:rPr lang="en-IN" smtClean="0"/>
              <a:t>‹#›</a:t>
            </a:fld>
            <a:endParaRPr lang="en-IN"/>
          </a:p>
        </p:txBody>
      </p:sp>
    </p:spTree>
    <p:extLst>
      <p:ext uri="{BB962C8B-B14F-4D97-AF65-F5344CB8AC3E}">
        <p14:creationId xmlns:p14="http://schemas.microsoft.com/office/powerpoint/2010/main" val="36647144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B930579E-93A1-4D81-AE4E-666FEEA235AD}" type="datetime1">
              <a:rPr lang="en-IN" smtClean="0"/>
              <a:t>20-12-2024</a:t>
            </a:fld>
            <a:endParaRPr lang="en-IN"/>
          </a:p>
        </p:txBody>
      </p:sp>
      <p:sp>
        <p:nvSpPr>
          <p:cNvPr id="8" name="Footer Placeholder 7"/>
          <p:cNvSpPr>
            <a:spLocks noGrp="1"/>
          </p:cNvSpPr>
          <p:nvPr>
            <p:ph type="ftr" sz="quarter" idx="11"/>
          </p:nvPr>
        </p:nvSpPr>
        <p:spPr/>
        <p:txBody>
          <a:bodyPr/>
          <a:lstStyle/>
          <a:p>
            <a:r>
              <a:rPr lang="en-IN"/>
              <a:t>Ms.Gandu Lavanya, Dept. of Computer Science Engg., Malla Reddy University</a:t>
            </a:r>
          </a:p>
        </p:txBody>
      </p:sp>
      <p:sp>
        <p:nvSpPr>
          <p:cNvPr id="9" name="Slide Number Placeholder 8"/>
          <p:cNvSpPr>
            <a:spLocks noGrp="1"/>
          </p:cNvSpPr>
          <p:nvPr>
            <p:ph type="sldNum" sz="quarter" idx="12"/>
          </p:nvPr>
        </p:nvSpPr>
        <p:spPr/>
        <p:txBody>
          <a:bodyPr/>
          <a:lstStyle/>
          <a:p>
            <a:fld id="{0B712F8A-C0D1-4E37-8851-7408E5047F0E}" type="slidenum">
              <a:rPr lang="en-IN" smtClean="0"/>
              <a:t>‹#›</a:t>
            </a:fld>
            <a:endParaRPr lang="en-IN"/>
          </a:p>
        </p:txBody>
      </p:sp>
    </p:spTree>
    <p:extLst>
      <p:ext uri="{BB962C8B-B14F-4D97-AF65-F5344CB8AC3E}">
        <p14:creationId xmlns:p14="http://schemas.microsoft.com/office/powerpoint/2010/main" val="22398426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AE83ED81-E6F8-40D1-AA8B-83156E120ED2}" type="datetime1">
              <a:rPr lang="en-IN" smtClean="0"/>
              <a:t>20-12-2024</a:t>
            </a:fld>
            <a:endParaRPr lang="en-IN"/>
          </a:p>
        </p:txBody>
      </p:sp>
      <p:sp>
        <p:nvSpPr>
          <p:cNvPr id="8" name="Footer Placeholder 7"/>
          <p:cNvSpPr>
            <a:spLocks noGrp="1"/>
          </p:cNvSpPr>
          <p:nvPr>
            <p:ph type="ftr" sz="quarter" idx="11"/>
          </p:nvPr>
        </p:nvSpPr>
        <p:spPr>
          <a:xfrm>
            <a:off x="561111" y="6391838"/>
            <a:ext cx="3644282" cy="304801"/>
          </a:xfrm>
        </p:spPr>
        <p:txBody>
          <a:bodyPr/>
          <a:lstStyle/>
          <a:p>
            <a:r>
              <a:rPr lang="en-IN"/>
              <a:t>Ms.Gandu Lavanya, Dept. of Computer Science Engg., Malla Reddy University</a:t>
            </a:r>
          </a:p>
        </p:txBody>
      </p:sp>
      <p:sp>
        <p:nvSpPr>
          <p:cNvPr id="9" name="Slide Number Placeholder 8"/>
          <p:cNvSpPr>
            <a:spLocks noGrp="1"/>
          </p:cNvSpPr>
          <p:nvPr>
            <p:ph type="sldNum" sz="quarter" idx="12"/>
          </p:nvPr>
        </p:nvSpPr>
        <p:spPr/>
        <p:txBody>
          <a:bodyPr/>
          <a:lstStyle/>
          <a:p>
            <a:fld id="{0B712F8A-C0D1-4E37-8851-7408E5047F0E}" type="slidenum">
              <a:rPr lang="en-IN" smtClean="0"/>
              <a:t>‹#›</a:t>
            </a:fld>
            <a:endParaRPr lang="en-IN"/>
          </a:p>
        </p:txBody>
      </p:sp>
    </p:spTree>
    <p:extLst>
      <p:ext uri="{BB962C8B-B14F-4D97-AF65-F5344CB8AC3E}">
        <p14:creationId xmlns:p14="http://schemas.microsoft.com/office/powerpoint/2010/main" val="32903672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1E30D04E-0235-4AF2-A4E1-34BB07ABCA18}" type="datetime1">
              <a:rPr lang="en-IN" smtClean="0"/>
              <a:t>20-12-2024</a:t>
            </a:fld>
            <a:endParaRPr lang="en-IN"/>
          </a:p>
        </p:txBody>
      </p:sp>
      <p:sp>
        <p:nvSpPr>
          <p:cNvPr id="5" name="Footer Placeholder 4"/>
          <p:cNvSpPr>
            <a:spLocks noGrp="1"/>
          </p:cNvSpPr>
          <p:nvPr>
            <p:ph type="ftr" sz="quarter" idx="11"/>
          </p:nvPr>
        </p:nvSpPr>
        <p:spPr/>
        <p:txBody>
          <a:bodyPr/>
          <a:lstStyle/>
          <a:p>
            <a:r>
              <a:rPr lang="en-IN"/>
              <a:t>Ms.Gandu Lavanya, Dept. of Computer Science Engg., Malla Reddy University</a:t>
            </a:r>
          </a:p>
        </p:txBody>
      </p:sp>
      <p:sp>
        <p:nvSpPr>
          <p:cNvPr id="6" name="Slide Number Placeholder 5"/>
          <p:cNvSpPr>
            <a:spLocks noGrp="1"/>
          </p:cNvSpPr>
          <p:nvPr>
            <p:ph type="sldNum" sz="quarter" idx="12"/>
          </p:nvPr>
        </p:nvSpPr>
        <p:spPr/>
        <p:txBody>
          <a:bodyPr/>
          <a:lstStyle/>
          <a:p>
            <a:fld id="{0B712F8A-C0D1-4E37-8851-7408E5047F0E}" type="slidenum">
              <a:rPr lang="en-IN" smtClean="0"/>
              <a:t>‹#›</a:t>
            </a:fld>
            <a:endParaRPr lang="en-IN"/>
          </a:p>
        </p:txBody>
      </p:sp>
    </p:spTree>
    <p:extLst>
      <p:ext uri="{BB962C8B-B14F-4D97-AF65-F5344CB8AC3E}">
        <p14:creationId xmlns:p14="http://schemas.microsoft.com/office/powerpoint/2010/main" val="5425223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6D0AA45-1937-4B96-8517-CC94B1E58EBE}" type="datetime1">
              <a:rPr lang="en-IN" smtClean="0"/>
              <a:t>20-12-2024</a:t>
            </a:fld>
            <a:endParaRPr lang="en-IN"/>
          </a:p>
        </p:txBody>
      </p:sp>
      <p:sp>
        <p:nvSpPr>
          <p:cNvPr id="5" name="Footer Placeholder 4"/>
          <p:cNvSpPr>
            <a:spLocks noGrp="1"/>
          </p:cNvSpPr>
          <p:nvPr>
            <p:ph type="ftr" sz="quarter" idx="11"/>
          </p:nvPr>
        </p:nvSpPr>
        <p:spPr/>
        <p:txBody>
          <a:bodyPr/>
          <a:lstStyle/>
          <a:p>
            <a:r>
              <a:rPr lang="en-IN"/>
              <a:t>Ms.Gandu Lavanya, Dept. of Computer Science Engg., Malla Reddy University</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B712F8A-C0D1-4E37-8851-7408E5047F0E}" type="slidenum">
              <a:rPr lang="en-IN" smtClean="0"/>
              <a:t>‹#›</a:t>
            </a:fld>
            <a:endParaRPr lang="en-IN"/>
          </a:p>
        </p:txBody>
      </p:sp>
    </p:spTree>
    <p:extLst>
      <p:ext uri="{BB962C8B-B14F-4D97-AF65-F5344CB8AC3E}">
        <p14:creationId xmlns:p14="http://schemas.microsoft.com/office/powerpoint/2010/main" val="2178710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B8ED8513-2CA5-4C38-9F74-2F9DA8A0FEC7}" type="datetime1">
              <a:rPr lang="en-IN" smtClean="0"/>
              <a:t>20-12-2024</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IN"/>
              <a:t>Ms.Gandu Lavanya, Dept. of Computer Science Engg., Malla Reddy University</a:t>
            </a: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B712F8A-C0D1-4E37-8851-7408E5047F0E}" type="slidenum">
              <a:rPr lang="en-IN" smtClean="0"/>
              <a:t>‹#›</a:t>
            </a:fld>
            <a:endParaRPr lang="en-IN"/>
          </a:p>
        </p:txBody>
      </p:sp>
    </p:spTree>
    <p:extLst>
      <p:ext uri="{BB962C8B-B14F-4D97-AF65-F5344CB8AC3E}">
        <p14:creationId xmlns:p14="http://schemas.microsoft.com/office/powerpoint/2010/main" val="25186988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hf hdr="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939654"/>
            <a:ext cx="9144000" cy="2387600"/>
          </a:xfrm>
        </p:spPr>
        <p:txBody>
          <a:bodyPr/>
          <a:lstStyle/>
          <a:p>
            <a:pPr lvl="0" algn="ctr">
              <a:lnSpc>
                <a:spcPct val="100000"/>
              </a:lnSpc>
              <a:spcBef>
                <a:spcPts val="0"/>
              </a:spcBef>
            </a:pPr>
            <a:r>
              <a:rPr lang="en-IN" sz="2400" b="1" dirty="0">
                <a:solidFill>
                  <a:srgbClr val="FFFF00"/>
                </a:solidFill>
                <a:latin typeface="Times New Roman" panose="02020603050405020304" pitchFamily="18" charset="0"/>
                <a:ea typeface="+mn-ea"/>
                <a:cs typeface="Times New Roman" panose="02020603050405020304" pitchFamily="18" charset="0"/>
              </a:rPr>
              <a:t>4</a:t>
            </a:r>
            <a:r>
              <a:rPr lang="en-IN" sz="2400" b="1" baseline="30000" dirty="0">
                <a:solidFill>
                  <a:srgbClr val="FFFF00"/>
                </a:solidFill>
                <a:latin typeface="Times New Roman" panose="02020603050405020304" pitchFamily="18" charset="0"/>
                <a:ea typeface="+mn-ea"/>
                <a:cs typeface="Times New Roman" panose="02020603050405020304" pitchFamily="18" charset="0"/>
              </a:rPr>
              <a:t>th</a:t>
            </a:r>
            <a:r>
              <a:rPr lang="en-IN" sz="2400" b="1" dirty="0">
                <a:solidFill>
                  <a:srgbClr val="FFFF00"/>
                </a:solidFill>
                <a:latin typeface="Times New Roman" panose="02020603050405020304" pitchFamily="18" charset="0"/>
                <a:ea typeface="+mn-ea"/>
                <a:cs typeface="Times New Roman" panose="02020603050405020304" pitchFamily="18" charset="0"/>
              </a:rPr>
              <a:t> </a:t>
            </a:r>
            <a:r>
              <a:rPr lang="en-US" sz="2400" b="1" dirty="0">
                <a:solidFill>
                  <a:srgbClr val="FFFF00"/>
                </a:solidFill>
                <a:latin typeface="Times New Roman" panose="02020603050405020304" pitchFamily="18" charset="0"/>
                <a:ea typeface="+mn-ea"/>
                <a:cs typeface="Times New Roman" panose="02020603050405020304" pitchFamily="18" charset="0"/>
              </a:rPr>
              <a:t>International Conference on </a:t>
            </a:r>
            <a:br>
              <a:rPr lang="en-US" sz="2400" b="1" dirty="0">
                <a:solidFill>
                  <a:srgbClr val="FFFF00"/>
                </a:solidFill>
                <a:latin typeface="Times New Roman" panose="02020603050405020304" pitchFamily="18" charset="0"/>
                <a:ea typeface="+mn-ea"/>
                <a:cs typeface="Times New Roman" panose="02020603050405020304" pitchFamily="18" charset="0"/>
              </a:rPr>
            </a:br>
            <a:r>
              <a:rPr lang="en-US" sz="2400" b="1" dirty="0">
                <a:solidFill>
                  <a:srgbClr val="FFFF00"/>
                </a:solidFill>
                <a:latin typeface="Times New Roman" panose="02020603050405020304" pitchFamily="18" charset="0"/>
                <a:ea typeface="+mn-ea"/>
                <a:cs typeface="Times New Roman" panose="02020603050405020304" pitchFamily="18" charset="0"/>
              </a:rPr>
              <a:t>INTELLIGENT SYSTEMS &amp; SUSTAINABLE COMPUTING </a:t>
            </a:r>
            <a:br>
              <a:rPr lang="en-US" sz="2400" b="1" dirty="0">
                <a:solidFill>
                  <a:srgbClr val="FFFF00"/>
                </a:solidFill>
                <a:latin typeface="Times New Roman" panose="02020603050405020304" pitchFamily="18" charset="0"/>
                <a:ea typeface="+mn-ea"/>
                <a:cs typeface="Times New Roman" panose="02020603050405020304" pitchFamily="18" charset="0"/>
              </a:rPr>
            </a:br>
            <a:r>
              <a:rPr lang="en-US" sz="2400" b="1" dirty="0">
                <a:solidFill>
                  <a:srgbClr val="FFFF00"/>
                </a:solidFill>
                <a:latin typeface="Times New Roman" panose="02020603050405020304" pitchFamily="18" charset="0"/>
                <a:ea typeface="+mn-ea"/>
                <a:cs typeface="Times New Roman" panose="02020603050405020304" pitchFamily="18" charset="0"/>
              </a:rPr>
              <a:t>(ICISSC -2024)</a:t>
            </a:r>
            <a:r>
              <a:rPr lang="en-IN" sz="2400" b="1" dirty="0">
                <a:solidFill>
                  <a:srgbClr val="FFFF00"/>
                </a:solidFill>
                <a:latin typeface="Times New Roman" panose="02020603050405020304" pitchFamily="18" charset="0"/>
                <a:ea typeface="+mn-ea"/>
                <a:cs typeface="Times New Roman" panose="02020603050405020304" pitchFamily="18" charset="0"/>
              </a:rPr>
              <a:t> </a:t>
            </a:r>
            <a:r>
              <a:rPr lang="en-IN" sz="2600" b="1" dirty="0">
                <a:solidFill>
                  <a:srgbClr val="BD037B"/>
                </a:solidFill>
                <a:latin typeface="Times New Roman" panose="02020603050405020304" pitchFamily="18" charset="0"/>
                <a:ea typeface="+mn-ea"/>
                <a:cs typeface="Times New Roman" panose="02020603050405020304" pitchFamily="18" charset="0"/>
              </a:rPr>
              <a:t/>
            </a:r>
            <a:br>
              <a:rPr lang="en-IN" sz="2600" b="1" dirty="0">
                <a:solidFill>
                  <a:srgbClr val="BD037B"/>
                </a:solidFill>
                <a:latin typeface="Times New Roman" panose="02020603050405020304" pitchFamily="18" charset="0"/>
                <a:ea typeface="+mn-ea"/>
                <a:cs typeface="Times New Roman" panose="02020603050405020304" pitchFamily="18" charset="0"/>
              </a:rPr>
            </a:br>
            <a:r>
              <a:rPr lang="en-IN" sz="2000" b="1" dirty="0">
                <a:solidFill>
                  <a:srgbClr val="FFFF00"/>
                </a:solidFill>
                <a:latin typeface="Times New Roman" panose="02020603050405020304" pitchFamily="18" charset="0"/>
                <a:ea typeface="+mn-ea"/>
                <a:cs typeface="Times New Roman" panose="02020603050405020304" pitchFamily="18" charset="0"/>
              </a:rPr>
              <a:t>20</a:t>
            </a:r>
            <a:r>
              <a:rPr lang="en-IN" sz="2000" b="1" baseline="30000" dirty="0">
                <a:solidFill>
                  <a:srgbClr val="FFFF00"/>
                </a:solidFill>
                <a:latin typeface="Times New Roman" panose="02020603050405020304" pitchFamily="18" charset="0"/>
                <a:ea typeface="+mn-ea"/>
                <a:cs typeface="Times New Roman" panose="02020603050405020304" pitchFamily="18" charset="0"/>
              </a:rPr>
              <a:t>th</a:t>
            </a:r>
            <a:r>
              <a:rPr lang="en-IN" sz="2000" b="1" dirty="0">
                <a:solidFill>
                  <a:srgbClr val="FFFF00"/>
                </a:solidFill>
                <a:latin typeface="Times New Roman" panose="02020603050405020304" pitchFamily="18" charset="0"/>
                <a:ea typeface="+mn-ea"/>
                <a:cs typeface="Times New Roman" panose="02020603050405020304" pitchFamily="18" charset="0"/>
              </a:rPr>
              <a:t>-21</a:t>
            </a:r>
            <a:r>
              <a:rPr lang="en-IN" sz="2000" b="1" baseline="30000" dirty="0">
                <a:solidFill>
                  <a:srgbClr val="FFFF00"/>
                </a:solidFill>
                <a:latin typeface="Times New Roman" panose="02020603050405020304" pitchFamily="18" charset="0"/>
                <a:ea typeface="+mn-ea"/>
                <a:cs typeface="Times New Roman" panose="02020603050405020304" pitchFamily="18" charset="0"/>
              </a:rPr>
              <a:t>st</a:t>
            </a:r>
            <a:r>
              <a:rPr lang="en-IN" sz="2000" b="1" dirty="0">
                <a:solidFill>
                  <a:srgbClr val="FFFF00"/>
                </a:solidFill>
                <a:latin typeface="Times New Roman" panose="02020603050405020304" pitchFamily="18" charset="0"/>
                <a:ea typeface="+mn-ea"/>
                <a:cs typeface="Times New Roman" panose="02020603050405020304" pitchFamily="18" charset="0"/>
              </a:rPr>
              <a:t> December 2024</a:t>
            </a:r>
            <a:r>
              <a:rPr lang="en-IN" sz="2000" b="1" dirty="0">
                <a:solidFill>
                  <a:srgbClr val="7030A0"/>
                </a:solidFill>
                <a:latin typeface="Times New Roman" panose="02020603050405020304" pitchFamily="18" charset="0"/>
                <a:ea typeface="+mn-ea"/>
                <a:cs typeface="Times New Roman" panose="02020603050405020304" pitchFamily="18" charset="0"/>
              </a:rPr>
              <a:t/>
            </a:r>
            <a:br>
              <a:rPr lang="en-IN" sz="2000" b="1" dirty="0">
                <a:solidFill>
                  <a:srgbClr val="7030A0"/>
                </a:solidFill>
                <a:latin typeface="Times New Roman" panose="02020603050405020304" pitchFamily="18" charset="0"/>
                <a:ea typeface="+mn-ea"/>
                <a:cs typeface="Times New Roman" panose="02020603050405020304" pitchFamily="18" charset="0"/>
              </a:rPr>
            </a:br>
            <a:r>
              <a:rPr lang="en-US" sz="2000" b="1" i="1" dirty="0">
                <a:solidFill>
                  <a:srgbClr val="0070C0"/>
                </a:solidFill>
                <a:latin typeface="Cambria" pitchFamily="18" charset="0"/>
                <a:ea typeface="Cambria" pitchFamily="18" charset="0"/>
                <a:cs typeface="+mn-cs"/>
              </a:rPr>
              <a:t/>
            </a:r>
            <a:br>
              <a:rPr lang="en-US" sz="2000" b="1" i="1" dirty="0">
                <a:solidFill>
                  <a:srgbClr val="0070C0"/>
                </a:solidFill>
                <a:latin typeface="Cambria" pitchFamily="18" charset="0"/>
                <a:ea typeface="Cambria" pitchFamily="18" charset="0"/>
                <a:cs typeface="+mn-cs"/>
              </a:rPr>
            </a:br>
            <a:r>
              <a:rPr lang="en-US" sz="2000" b="1" dirty="0">
                <a:solidFill>
                  <a:schemeClr val="bg1"/>
                </a:solidFill>
                <a:latin typeface="Cambria" pitchFamily="18" charset="0"/>
                <a:ea typeface="Cambria" pitchFamily="18" charset="0"/>
                <a:cs typeface="+mn-cs"/>
              </a:rPr>
              <a:t>Paper ID: 130</a:t>
            </a:r>
            <a:endParaRPr lang="en-IN" dirty="0">
              <a:solidFill>
                <a:schemeClr val="bg1"/>
              </a:solidFill>
            </a:endParaRPr>
          </a:p>
        </p:txBody>
      </p:sp>
      <p:sp>
        <p:nvSpPr>
          <p:cNvPr id="4" name="Rectangle 3"/>
          <p:cNvSpPr/>
          <p:nvPr/>
        </p:nvSpPr>
        <p:spPr>
          <a:xfrm>
            <a:off x="2333897" y="3809854"/>
            <a:ext cx="7524206" cy="2954655"/>
          </a:xfrm>
          <a:prstGeom prst="rect">
            <a:avLst/>
          </a:prstGeom>
        </p:spPr>
        <p:txBody>
          <a:bodyPr wrap="square">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Improving the Classification of Attacks in IoT Intrusion Detection Systems Using Firefly Hyperparameter Optimization.</a:t>
            </a:r>
          </a:p>
          <a:p>
            <a:pPr algn="ctr"/>
            <a:endParaRPr 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err="1">
                <a:solidFill>
                  <a:srgbClr val="FFFF00"/>
                </a:solidFill>
                <a:latin typeface="Times New Roman" panose="02020603050405020304" pitchFamily="18" charset="0"/>
                <a:cs typeface="Times New Roman" panose="02020603050405020304" pitchFamily="18" charset="0"/>
              </a:rPr>
              <a:t>Ms.Gandu</a:t>
            </a:r>
            <a:r>
              <a:rPr lang="en-US" sz="2400" dirty="0">
                <a:solidFill>
                  <a:srgbClr val="FFFF00"/>
                </a:solidFill>
                <a:latin typeface="Times New Roman" panose="02020603050405020304" pitchFamily="18" charset="0"/>
                <a:cs typeface="Times New Roman" panose="02020603050405020304" pitchFamily="18" charset="0"/>
              </a:rPr>
              <a:t> Lavanya</a:t>
            </a:r>
          </a:p>
          <a:p>
            <a:pPr algn="ctr"/>
            <a:r>
              <a:rPr lang="en-US" sz="2400" dirty="0">
                <a:solidFill>
                  <a:srgbClr val="FFFF00"/>
                </a:solidFill>
                <a:latin typeface="Times New Roman" panose="02020603050405020304" pitchFamily="18" charset="0"/>
                <a:cs typeface="Times New Roman" panose="02020603050405020304" pitchFamily="18" charset="0"/>
              </a:rPr>
              <a:t>Assistant Professor, Malla Reddy University</a:t>
            </a:r>
          </a:p>
          <a:p>
            <a:pPr algn="ctr"/>
            <a:endParaRPr lang="en-US" sz="2400" dirty="0">
              <a:solidFill>
                <a:schemeClr val="bg1"/>
              </a:solidFill>
              <a:latin typeface="Times New Roman" panose="02020603050405020304" pitchFamily="18" charset="0"/>
              <a:cs typeface="Times New Roman" panose="02020603050405020304" pitchFamily="18" charset="0"/>
            </a:endParaRPr>
          </a:p>
          <a:p>
            <a:endParaRPr lang="en-US" dirty="0">
              <a:solidFill>
                <a:srgbClr val="00B0F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0028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3935" y="729828"/>
            <a:ext cx="3958066" cy="706964"/>
          </a:xfrm>
        </p:spPr>
        <p:txBody>
          <a:bodyPr/>
          <a:lstStyle/>
          <a:p>
            <a:r>
              <a:rPr lang="en-US" b="1" dirty="0">
                <a:solidFill>
                  <a:srgbClr val="FFFF00"/>
                </a:solidFill>
              </a:rPr>
              <a:t>1. ABSTRACT</a:t>
            </a:r>
            <a:endParaRPr lang="en-IN" b="1" dirty="0">
              <a:solidFill>
                <a:srgbClr val="FFFF00"/>
              </a:solidFill>
            </a:endParaRPr>
          </a:p>
        </p:txBody>
      </p:sp>
      <p:sp>
        <p:nvSpPr>
          <p:cNvPr id="3" name="Content Placeholder 2"/>
          <p:cNvSpPr>
            <a:spLocks noGrp="1"/>
          </p:cNvSpPr>
          <p:nvPr>
            <p:ph idx="1"/>
          </p:nvPr>
        </p:nvSpPr>
        <p:spPr>
          <a:xfrm>
            <a:off x="434340" y="2346960"/>
            <a:ext cx="11216640" cy="1813560"/>
          </a:xfrm>
        </p:spPr>
        <p:txBody>
          <a:bodyPr>
            <a:noAutofit/>
          </a:bodyPr>
          <a:lstStyle/>
          <a:p>
            <a:pPr marL="342900" indent="-342900" algn="just"/>
            <a:r>
              <a:rPr lang="en-US" sz="2200" dirty="0">
                <a:solidFill>
                  <a:schemeClr val="tx1"/>
                </a:solidFill>
                <a:latin typeface="Times New Roman" panose="02020603050405020304" pitchFamily="18" charset="0"/>
                <a:cs typeface="Times New Roman" panose="02020603050405020304" pitchFamily="18" charset="0"/>
              </a:rPr>
              <a:t>The abstract explores the integration of the Internet of Things (IoT) with machine learning (ML) algorithms, focusing on the optimization of hyper parameters through the Firefly Algorithm (FA). </a:t>
            </a:r>
          </a:p>
          <a:p>
            <a:pPr marL="342900" indent="-342900" algn="just"/>
            <a:endParaRPr lang="en-US" sz="2200" dirty="0">
              <a:solidFill>
                <a:schemeClr val="tx1"/>
              </a:solidFill>
              <a:latin typeface="Times New Roman" panose="02020603050405020304" pitchFamily="18" charset="0"/>
              <a:cs typeface="Times New Roman" panose="02020603050405020304" pitchFamily="18" charset="0"/>
            </a:endParaRPr>
          </a:p>
          <a:p>
            <a:pPr marL="342900" indent="-342900" algn="just"/>
            <a:r>
              <a:rPr lang="en-US" sz="2200" dirty="0">
                <a:solidFill>
                  <a:schemeClr val="tx1"/>
                </a:solidFill>
                <a:latin typeface="Times New Roman" panose="02020603050405020304" pitchFamily="18" charset="0"/>
                <a:cs typeface="Times New Roman" panose="02020603050405020304" pitchFamily="18" charset="0"/>
              </a:rPr>
              <a:t>The IoT, characterized by a vast network of interconnected devices, generates substantial amounts of data that not only facilitates enhanced decision-making but also poses significant challenges due to the increased risk of cyber attacks.</a:t>
            </a:r>
          </a:p>
          <a:p>
            <a:pPr marL="0" indent="0" algn="just">
              <a:buNone/>
            </a:pPr>
            <a:endParaRPr lang="en-US" sz="2200" dirty="0">
              <a:solidFill>
                <a:schemeClr val="tx1"/>
              </a:solidFill>
              <a:latin typeface="Times New Roman" panose="02020603050405020304" pitchFamily="18" charset="0"/>
              <a:cs typeface="Times New Roman" panose="02020603050405020304" pitchFamily="18" charset="0"/>
            </a:endParaRPr>
          </a:p>
          <a:p>
            <a:pPr marL="342900" indent="-342900" algn="just"/>
            <a:r>
              <a:rPr lang="en-US" sz="2200" dirty="0">
                <a:solidFill>
                  <a:schemeClr val="tx1"/>
                </a:solidFill>
                <a:latin typeface="Times New Roman" panose="02020603050405020304" pitchFamily="18" charset="0"/>
                <a:cs typeface="Times New Roman" panose="02020603050405020304" pitchFamily="18" charset="0"/>
              </a:rPr>
              <a:t>An intrusion detection system (IDS) is a security mechanism that works mainly in the network layer of an IoT system.</a:t>
            </a:r>
            <a:endParaRPr lang="en-IN" sz="22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xmlns="" id="{95163D2D-29CD-C8AD-EC89-47CFFB5B37FC}"/>
              </a:ext>
            </a:extLst>
          </p:cNvPr>
          <p:cNvSpPr>
            <a:spLocks noGrp="1"/>
          </p:cNvSpPr>
          <p:nvPr>
            <p:ph type="ftr" sz="quarter" idx="11"/>
          </p:nvPr>
        </p:nvSpPr>
        <p:spPr/>
        <p:txBody>
          <a:bodyPr/>
          <a:lstStyle/>
          <a:p>
            <a:r>
              <a:rPr lang="en-IN"/>
              <a:t>Ms.Gandu Lavanya, Dept. of Computer Science Engg., Malla Reddy University</a:t>
            </a:r>
          </a:p>
        </p:txBody>
      </p:sp>
      <p:sp>
        <p:nvSpPr>
          <p:cNvPr id="5" name="Date Placeholder 4">
            <a:extLst>
              <a:ext uri="{FF2B5EF4-FFF2-40B4-BE49-F238E27FC236}">
                <a16:creationId xmlns:a16="http://schemas.microsoft.com/office/drawing/2014/main" xmlns="" id="{C72622A8-8B4A-A014-EA2B-C00C4F2A6B18}"/>
              </a:ext>
            </a:extLst>
          </p:cNvPr>
          <p:cNvSpPr>
            <a:spLocks noGrp="1"/>
          </p:cNvSpPr>
          <p:nvPr>
            <p:ph type="dt" sz="half" idx="10"/>
          </p:nvPr>
        </p:nvSpPr>
        <p:spPr/>
        <p:txBody>
          <a:bodyPr/>
          <a:lstStyle/>
          <a:p>
            <a:fld id="{B3ADF4F7-113C-4354-8E82-286B3FB39A0B}" type="datetime1">
              <a:rPr lang="en-IN" smtClean="0"/>
              <a:t>20-12-2024</a:t>
            </a:fld>
            <a:endParaRPr lang="en-IN"/>
          </a:p>
        </p:txBody>
      </p:sp>
      <p:sp>
        <p:nvSpPr>
          <p:cNvPr id="6" name="Slide Number Placeholder 5">
            <a:extLst>
              <a:ext uri="{FF2B5EF4-FFF2-40B4-BE49-F238E27FC236}">
                <a16:creationId xmlns:a16="http://schemas.microsoft.com/office/drawing/2014/main" xmlns="" id="{2C189507-4113-2254-C155-AF3C38C181E3}"/>
              </a:ext>
            </a:extLst>
          </p:cNvPr>
          <p:cNvSpPr>
            <a:spLocks noGrp="1"/>
          </p:cNvSpPr>
          <p:nvPr>
            <p:ph type="sldNum" sz="quarter" idx="12"/>
          </p:nvPr>
        </p:nvSpPr>
        <p:spPr/>
        <p:txBody>
          <a:bodyPr/>
          <a:lstStyle/>
          <a:p>
            <a:fld id="{0B712F8A-C0D1-4E37-8851-7408E5047F0E}" type="slidenum">
              <a:rPr lang="en-IN" smtClean="0"/>
              <a:t>2</a:t>
            </a:fld>
            <a:endParaRPr lang="en-IN"/>
          </a:p>
        </p:txBody>
      </p:sp>
    </p:spTree>
    <p:extLst>
      <p:ext uri="{BB962C8B-B14F-4D97-AF65-F5344CB8AC3E}">
        <p14:creationId xmlns:p14="http://schemas.microsoft.com/office/powerpoint/2010/main" val="1990131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8695" y="838200"/>
            <a:ext cx="4697206" cy="706964"/>
          </a:xfrm>
        </p:spPr>
        <p:txBody>
          <a:bodyPr/>
          <a:lstStyle/>
          <a:p>
            <a:r>
              <a:rPr lang="en-IN" b="1" dirty="0">
                <a:solidFill>
                  <a:srgbClr val="FFFF00"/>
                </a:solidFill>
              </a:rPr>
              <a:t>2. Introduction</a:t>
            </a:r>
            <a:r>
              <a:rPr lang="en-IN" dirty="0">
                <a:solidFill>
                  <a:srgbClr val="00B0F0"/>
                </a:solidFill>
              </a:rPr>
              <a:t> </a:t>
            </a:r>
            <a:endParaRPr lang="en-IN" dirty="0"/>
          </a:p>
        </p:txBody>
      </p:sp>
      <p:sp>
        <p:nvSpPr>
          <p:cNvPr id="3" name="Content Placeholder 2"/>
          <p:cNvSpPr>
            <a:spLocks noGrp="1"/>
          </p:cNvSpPr>
          <p:nvPr>
            <p:ph idx="1"/>
          </p:nvPr>
        </p:nvSpPr>
        <p:spPr>
          <a:xfrm>
            <a:off x="480060" y="2603499"/>
            <a:ext cx="11247120" cy="3619501"/>
          </a:xfrm>
        </p:spPr>
        <p:txBody>
          <a:bodyPr>
            <a:normAutofit fontScale="92500" lnSpcReduction="10000"/>
          </a:bodyPr>
          <a:lstStyle/>
          <a:p>
            <a:pPr algn="just"/>
            <a:r>
              <a:rPr lang="en-US" sz="2400" dirty="0">
                <a:solidFill>
                  <a:schemeClr val="tx1"/>
                </a:solidFill>
                <a:latin typeface="Times New Roman" panose="02020603050405020304" pitchFamily="18" charset="0"/>
                <a:cs typeface="Times New Roman" panose="02020603050405020304" pitchFamily="18" charset="0"/>
              </a:rPr>
              <a:t>The IoT describes the networked connection of common devices and systems via the internet, allowing them to gather and  share data</a:t>
            </a:r>
            <a:r>
              <a:rPr lang="en-IN" sz="2400" dirty="0">
                <a:solidFill>
                  <a:schemeClr val="tx1"/>
                </a:solidFill>
                <a:latin typeface="Times New Roman" panose="02020603050405020304" pitchFamily="18" charset="0"/>
                <a:cs typeface="Times New Roman" panose="02020603050405020304" pitchFamily="18" charset="0"/>
              </a:rPr>
              <a:t> [1].</a:t>
            </a:r>
          </a:p>
          <a:p>
            <a:pPr marL="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a:p>
            <a:pPr algn="just"/>
            <a:r>
              <a:rPr lang="en-US" sz="2400" dirty="0">
                <a:solidFill>
                  <a:schemeClr val="tx1"/>
                </a:solidFill>
                <a:latin typeface="Times New Roman" panose="02020603050405020304" pitchFamily="18" charset="0"/>
                <a:cs typeface="Times New Roman" panose="02020603050405020304" pitchFamily="18" charset="0"/>
              </a:rPr>
              <a:t>An IDS is crucial for IoT environments because of the unique vulnerabilities these devices face. With their often-limited processing power and security capabilities, IoT devices are particularly susceptible to attacks.</a:t>
            </a:r>
          </a:p>
          <a:p>
            <a:pPr marL="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a:p>
            <a:pPr algn="just"/>
            <a:r>
              <a:rPr lang="en-US" sz="2400" dirty="0">
                <a:solidFill>
                  <a:schemeClr val="tx1"/>
                </a:solidFill>
                <a:latin typeface="Times New Roman" panose="02020603050405020304" pitchFamily="18" charset="0"/>
                <a:cs typeface="Times New Roman" panose="02020603050405020304" pitchFamily="18" charset="0"/>
              </a:rPr>
              <a:t>Machine learning (ML) can struggle to accurately classify attacks as normal or abnormal due to various factors, including high-dimensional feature spaces, imbalanced datasets, and the evolving nature of cyber threats</a:t>
            </a:r>
            <a:r>
              <a:rPr lang="en-IN" sz="2400" dirty="0">
                <a:solidFill>
                  <a:schemeClr val="tx1"/>
                </a:solidFill>
                <a:latin typeface="Times New Roman" panose="02020603050405020304" pitchFamily="18" charset="0"/>
                <a:cs typeface="Times New Roman" panose="02020603050405020304" pitchFamily="18" charset="0"/>
              </a:rPr>
              <a:t> [2][3].</a:t>
            </a:r>
            <a:endParaRPr lang="en-US" sz="2400" dirty="0">
              <a:solidFill>
                <a:schemeClr val="tx1"/>
              </a:solidFill>
              <a:latin typeface="Times New Roman" panose="02020603050405020304" pitchFamily="18" charset="0"/>
              <a:cs typeface="Times New Roman" panose="02020603050405020304" pitchFamily="18" charset="0"/>
            </a:endParaRPr>
          </a:p>
          <a:p>
            <a:pPr marL="0" indent="0">
              <a:buNone/>
            </a:pPr>
            <a:endParaRPr lang="en-US" dirty="0"/>
          </a:p>
        </p:txBody>
      </p:sp>
      <p:sp>
        <p:nvSpPr>
          <p:cNvPr id="4" name="Footer Placeholder 3">
            <a:extLst>
              <a:ext uri="{FF2B5EF4-FFF2-40B4-BE49-F238E27FC236}">
                <a16:creationId xmlns:a16="http://schemas.microsoft.com/office/drawing/2014/main" xmlns="" id="{B3FE3E61-0B28-FD09-791A-A6675E7F0CFC}"/>
              </a:ext>
            </a:extLst>
          </p:cNvPr>
          <p:cNvSpPr>
            <a:spLocks noGrp="1"/>
          </p:cNvSpPr>
          <p:nvPr>
            <p:ph type="ftr" sz="quarter" idx="11"/>
          </p:nvPr>
        </p:nvSpPr>
        <p:spPr/>
        <p:txBody>
          <a:bodyPr/>
          <a:lstStyle/>
          <a:p>
            <a:r>
              <a:rPr lang="en-IN"/>
              <a:t>Ms.Gandu Lavanya, Dept. of Computer Science Engg., Malla Reddy University</a:t>
            </a:r>
          </a:p>
        </p:txBody>
      </p:sp>
      <p:sp>
        <p:nvSpPr>
          <p:cNvPr id="5" name="Date Placeholder 4">
            <a:extLst>
              <a:ext uri="{FF2B5EF4-FFF2-40B4-BE49-F238E27FC236}">
                <a16:creationId xmlns:a16="http://schemas.microsoft.com/office/drawing/2014/main" xmlns="" id="{328FD22C-F7DB-7CBB-B2C1-7E84D86FD996}"/>
              </a:ext>
            </a:extLst>
          </p:cNvPr>
          <p:cNvSpPr>
            <a:spLocks noGrp="1"/>
          </p:cNvSpPr>
          <p:nvPr>
            <p:ph type="dt" sz="half" idx="10"/>
          </p:nvPr>
        </p:nvSpPr>
        <p:spPr/>
        <p:txBody>
          <a:bodyPr/>
          <a:lstStyle/>
          <a:p>
            <a:fld id="{9FFFC8D5-0174-466B-AAEF-F2EB0586AE00}" type="datetime1">
              <a:rPr lang="en-IN" smtClean="0"/>
              <a:t>20-12-2024</a:t>
            </a:fld>
            <a:endParaRPr lang="en-IN"/>
          </a:p>
        </p:txBody>
      </p:sp>
      <p:sp>
        <p:nvSpPr>
          <p:cNvPr id="6" name="Slide Number Placeholder 5">
            <a:extLst>
              <a:ext uri="{FF2B5EF4-FFF2-40B4-BE49-F238E27FC236}">
                <a16:creationId xmlns:a16="http://schemas.microsoft.com/office/drawing/2014/main" xmlns="" id="{045D3085-42EB-D052-CD66-A41ABE4E7F82}"/>
              </a:ext>
            </a:extLst>
          </p:cNvPr>
          <p:cNvSpPr>
            <a:spLocks noGrp="1"/>
          </p:cNvSpPr>
          <p:nvPr>
            <p:ph type="sldNum" sz="quarter" idx="12"/>
          </p:nvPr>
        </p:nvSpPr>
        <p:spPr/>
        <p:txBody>
          <a:bodyPr/>
          <a:lstStyle/>
          <a:p>
            <a:fld id="{0B712F8A-C0D1-4E37-8851-7408E5047F0E}" type="slidenum">
              <a:rPr lang="en-IN" smtClean="0"/>
              <a:t>3</a:t>
            </a:fld>
            <a:endParaRPr lang="en-IN"/>
          </a:p>
        </p:txBody>
      </p:sp>
    </p:spTree>
    <p:extLst>
      <p:ext uri="{BB962C8B-B14F-4D97-AF65-F5344CB8AC3E}">
        <p14:creationId xmlns:p14="http://schemas.microsoft.com/office/powerpoint/2010/main" val="3667725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9220" y="999068"/>
            <a:ext cx="8761413" cy="706964"/>
          </a:xfrm>
        </p:spPr>
        <p:txBody>
          <a:bodyPr/>
          <a:lstStyle/>
          <a:p>
            <a:r>
              <a:rPr lang="en-IN" b="1" dirty="0">
                <a:solidFill>
                  <a:srgbClr val="FFFF00"/>
                </a:solidFill>
              </a:rPr>
              <a:t>Continued… </a:t>
            </a:r>
          </a:p>
        </p:txBody>
      </p:sp>
      <p:sp>
        <p:nvSpPr>
          <p:cNvPr id="3" name="Content Placeholder 2"/>
          <p:cNvSpPr>
            <a:spLocks noGrp="1"/>
          </p:cNvSpPr>
          <p:nvPr>
            <p:ph idx="1"/>
          </p:nvPr>
        </p:nvSpPr>
        <p:spPr>
          <a:xfrm>
            <a:off x="440268" y="2603500"/>
            <a:ext cx="11294532" cy="3416300"/>
          </a:xfrm>
        </p:spPr>
        <p:txBody>
          <a:bodyPr>
            <a:normAutofit lnSpcReduction="10000"/>
          </a:bodyPr>
          <a:lstStyle/>
          <a:p>
            <a:pPr marL="342900" indent="-342900" algn="just"/>
            <a:r>
              <a:rPr lang="en-US" sz="2200" dirty="0">
                <a:solidFill>
                  <a:schemeClr val="tx1">
                    <a:lumMod val="95000"/>
                    <a:lumOff val="5000"/>
                  </a:schemeClr>
                </a:solidFill>
                <a:latin typeface="Times New Roman" panose="02020603050405020304" pitchFamily="18" charset="0"/>
                <a:cs typeface="Times New Roman" panose="02020603050405020304" pitchFamily="18" charset="0"/>
              </a:rPr>
              <a:t>The FA is a NIO</a:t>
            </a:r>
            <a:r>
              <a:rPr lang="en-IN" sz="2200" dirty="0">
                <a:solidFill>
                  <a:schemeClr val="tx1">
                    <a:lumMod val="95000"/>
                    <a:lumOff val="5000"/>
                  </a:schemeClr>
                </a:solidFill>
                <a:latin typeface="Times New Roman" panose="02020603050405020304" pitchFamily="18" charset="0"/>
                <a:cs typeface="Times New Roman" panose="02020603050405020304" pitchFamily="18" charset="0"/>
              </a:rPr>
              <a:t> (nature-inspired optimization)</a:t>
            </a:r>
            <a:r>
              <a:rPr lang="en-US" sz="2200" dirty="0">
                <a:solidFill>
                  <a:schemeClr val="tx1">
                    <a:lumMod val="95000"/>
                    <a:lumOff val="5000"/>
                  </a:schemeClr>
                </a:solidFill>
                <a:latin typeface="Times New Roman" panose="02020603050405020304" pitchFamily="18" charset="0"/>
                <a:cs typeface="Times New Roman" panose="02020603050405020304" pitchFamily="18" charset="0"/>
              </a:rPr>
              <a:t> technique inspired by the flashing patterns of fireflies. </a:t>
            </a:r>
          </a:p>
          <a:p>
            <a:pPr marL="0" indent="0" algn="just">
              <a:buNone/>
            </a:pPr>
            <a:endParaRPr lang="en-US" sz="22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342900" indent="-342900" algn="just"/>
            <a:r>
              <a:rPr lang="en-US" sz="2200" dirty="0">
                <a:solidFill>
                  <a:schemeClr val="tx1">
                    <a:lumMod val="95000"/>
                    <a:lumOff val="5000"/>
                  </a:schemeClr>
                </a:solidFill>
                <a:latin typeface="Times New Roman" panose="02020603050405020304" pitchFamily="18" charset="0"/>
                <a:cs typeface="Times New Roman" panose="02020603050405020304" pitchFamily="18" charset="0"/>
              </a:rPr>
              <a:t>It operates on the principle that fireflies are attracted to one another depending on the brightness of their flashes, which corresponds to the quality of their solutions in optimization problems.</a:t>
            </a:r>
          </a:p>
          <a:p>
            <a:pPr marL="342900" indent="-342900" algn="just"/>
            <a:endParaRPr lang="en-US" sz="22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342900" indent="-342900" algn="just"/>
            <a:r>
              <a:rPr lang="en-US" sz="2200" dirty="0">
                <a:solidFill>
                  <a:schemeClr val="tx1">
                    <a:lumMod val="95000"/>
                    <a:lumOff val="5000"/>
                  </a:schemeClr>
                </a:solidFill>
                <a:latin typeface="Times New Roman" panose="02020603050405020304" pitchFamily="18" charset="0"/>
                <a:cs typeface="Times New Roman" panose="02020603050405020304" pitchFamily="18" charset="0"/>
              </a:rPr>
              <a:t> This approach enhances the predictive accuracy and generalization capabilities of ML models applied to IoT data, ultimately improving applications such as intrusion detection system (IDS), and predictive maintenance. </a:t>
            </a:r>
            <a:endParaRPr lang="en-IN" sz="2200"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IN" dirty="0"/>
          </a:p>
        </p:txBody>
      </p:sp>
      <p:sp>
        <p:nvSpPr>
          <p:cNvPr id="4" name="Footer Placeholder 3">
            <a:extLst>
              <a:ext uri="{FF2B5EF4-FFF2-40B4-BE49-F238E27FC236}">
                <a16:creationId xmlns:a16="http://schemas.microsoft.com/office/drawing/2014/main" xmlns="" id="{AB4042BE-9837-33A7-473F-6AF87546A36F}"/>
              </a:ext>
            </a:extLst>
          </p:cNvPr>
          <p:cNvSpPr>
            <a:spLocks noGrp="1"/>
          </p:cNvSpPr>
          <p:nvPr>
            <p:ph type="ftr" sz="quarter" idx="11"/>
          </p:nvPr>
        </p:nvSpPr>
        <p:spPr/>
        <p:txBody>
          <a:bodyPr/>
          <a:lstStyle/>
          <a:p>
            <a:r>
              <a:rPr lang="en-IN"/>
              <a:t>Ms.Gandu Lavanya, Dept. of Computer Science Engg., Malla Reddy University</a:t>
            </a:r>
          </a:p>
        </p:txBody>
      </p:sp>
      <p:sp>
        <p:nvSpPr>
          <p:cNvPr id="5" name="Date Placeholder 4">
            <a:extLst>
              <a:ext uri="{FF2B5EF4-FFF2-40B4-BE49-F238E27FC236}">
                <a16:creationId xmlns:a16="http://schemas.microsoft.com/office/drawing/2014/main" xmlns="" id="{F45670BE-6BA5-6FC9-50C4-828A5C7F8655}"/>
              </a:ext>
            </a:extLst>
          </p:cNvPr>
          <p:cNvSpPr>
            <a:spLocks noGrp="1"/>
          </p:cNvSpPr>
          <p:nvPr>
            <p:ph type="dt" sz="half" idx="10"/>
          </p:nvPr>
        </p:nvSpPr>
        <p:spPr/>
        <p:txBody>
          <a:bodyPr/>
          <a:lstStyle/>
          <a:p>
            <a:fld id="{931235DD-2122-4140-95B3-E018A117B027}" type="datetime1">
              <a:rPr lang="en-IN" smtClean="0"/>
              <a:t>20-12-2024</a:t>
            </a:fld>
            <a:endParaRPr lang="en-IN"/>
          </a:p>
        </p:txBody>
      </p:sp>
      <p:sp>
        <p:nvSpPr>
          <p:cNvPr id="6" name="Slide Number Placeholder 5">
            <a:extLst>
              <a:ext uri="{FF2B5EF4-FFF2-40B4-BE49-F238E27FC236}">
                <a16:creationId xmlns:a16="http://schemas.microsoft.com/office/drawing/2014/main" xmlns="" id="{7F0978E4-11C1-416A-B408-F2A7EBF31CF5}"/>
              </a:ext>
            </a:extLst>
          </p:cNvPr>
          <p:cNvSpPr>
            <a:spLocks noGrp="1"/>
          </p:cNvSpPr>
          <p:nvPr>
            <p:ph type="sldNum" sz="quarter" idx="12"/>
          </p:nvPr>
        </p:nvSpPr>
        <p:spPr/>
        <p:txBody>
          <a:bodyPr/>
          <a:lstStyle/>
          <a:p>
            <a:fld id="{0B712F8A-C0D1-4E37-8851-7408E5047F0E}" type="slidenum">
              <a:rPr lang="en-IN" smtClean="0"/>
              <a:t>4</a:t>
            </a:fld>
            <a:endParaRPr lang="en-IN"/>
          </a:p>
        </p:txBody>
      </p:sp>
    </p:spTree>
    <p:extLst>
      <p:ext uri="{BB962C8B-B14F-4D97-AF65-F5344CB8AC3E}">
        <p14:creationId xmlns:p14="http://schemas.microsoft.com/office/powerpoint/2010/main" val="4197246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7687" y="965201"/>
            <a:ext cx="8761413" cy="706964"/>
          </a:xfrm>
        </p:spPr>
        <p:txBody>
          <a:bodyPr/>
          <a:lstStyle/>
          <a:p>
            <a:r>
              <a:rPr lang="en-IN" b="1" dirty="0">
                <a:solidFill>
                  <a:srgbClr val="FFFF00"/>
                </a:solidFill>
              </a:rPr>
              <a:t>Continued… </a:t>
            </a:r>
            <a:endParaRPr lang="en-IN" dirty="0"/>
          </a:p>
        </p:txBody>
      </p:sp>
      <p:sp>
        <p:nvSpPr>
          <p:cNvPr id="3" name="Content Placeholder 2"/>
          <p:cNvSpPr>
            <a:spLocks noGrp="1"/>
          </p:cNvSpPr>
          <p:nvPr>
            <p:ph idx="1"/>
          </p:nvPr>
        </p:nvSpPr>
        <p:spPr>
          <a:xfrm>
            <a:off x="465668" y="2603500"/>
            <a:ext cx="11235266" cy="2391833"/>
          </a:xfrm>
        </p:spPr>
        <p:txBody>
          <a:bodyPr>
            <a:normAutofit/>
          </a:bodyPr>
          <a:lstStyle/>
          <a:p>
            <a:pPr algn="just"/>
            <a:r>
              <a:rPr lang="en-US" sz="2200" dirty="0">
                <a:solidFill>
                  <a:schemeClr val="tx1"/>
                </a:solidFill>
                <a:latin typeface="Times New Roman" panose="02020603050405020304" pitchFamily="18" charset="0"/>
                <a:cs typeface="Times New Roman" panose="02020603050405020304" pitchFamily="18" charset="0"/>
              </a:rPr>
              <a:t>NIO can lead to more robust models that better capture the complexities of abnormal behavior, ultimately improving the accuracy and reliability of IDS. </a:t>
            </a:r>
          </a:p>
          <a:p>
            <a:pPr marL="0" indent="0" algn="just">
              <a:buNone/>
            </a:pPr>
            <a:endParaRPr lang="en-US" sz="2200" dirty="0">
              <a:solidFill>
                <a:schemeClr val="tx1"/>
              </a:solidFill>
              <a:latin typeface="Times New Roman" panose="02020603050405020304" pitchFamily="18" charset="0"/>
              <a:cs typeface="Times New Roman" panose="02020603050405020304" pitchFamily="18" charset="0"/>
            </a:endParaRPr>
          </a:p>
          <a:p>
            <a:pPr algn="just"/>
            <a:r>
              <a:rPr lang="en-US" sz="2200" dirty="0">
                <a:solidFill>
                  <a:schemeClr val="tx1"/>
                </a:solidFill>
                <a:latin typeface="Times New Roman" panose="02020603050405020304" pitchFamily="18" charset="0"/>
                <a:cs typeface="Times New Roman" panose="02020603050405020304" pitchFamily="18" charset="0"/>
              </a:rPr>
              <a:t>The FA is a NIO technique inspired by the flashing patterns of fireflies. It operates on the principle that fireflies are attracted to one another depending on the brightness of their flashes.</a:t>
            </a:r>
          </a:p>
          <a:p>
            <a:endParaRPr lang="en-IN" dirty="0"/>
          </a:p>
        </p:txBody>
      </p:sp>
      <p:sp>
        <p:nvSpPr>
          <p:cNvPr id="4" name="Footer Placeholder 3">
            <a:extLst>
              <a:ext uri="{FF2B5EF4-FFF2-40B4-BE49-F238E27FC236}">
                <a16:creationId xmlns:a16="http://schemas.microsoft.com/office/drawing/2014/main" xmlns="" id="{21A0ACB8-AEA6-5BB5-4728-72CECCBC7E9A}"/>
              </a:ext>
            </a:extLst>
          </p:cNvPr>
          <p:cNvSpPr>
            <a:spLocks noGrp="1"/>
          </p:cNvSpPr>
          <p:nvPr>
            <p:ph type="ftr" sz="quarter" idx="11"/>
          </p:nvPr>
        </p:nvSpPr>
        <p:spPr/>
        <p:txBody>
          <a:bodyPr/>
          <a:lstStyle/>
          <a:p>
            <a:r>
              <a:rPr lang="en-IN"/>
              <a:t>Ms.Gandu Lavanya, Dept. of Computer Science Engg., Malla Reddy University</a:t>
            </a:r>
          </a:p>
        </p:txBody>
      </p:sp>
      <p:sp>
        <p:nvSpPr>
          <p:cNvPr id="5" name="Date Placeholder 4">
            <a:extLst>
              <a:ext uri="{FF2B5EF4-FFF2-40B4-BE49-F238E27FC236}">
                <a16:creationId xmlns:a16="http://schemas.microsoft.com/office/drawing/2014/main" xmlns="" id="{0892EBC5-DE2E-9315-88E8-182DEA5A887C}"/>
              </a:ext>
            </a:extLst>
          </p:cNvPr>
          <p:cNvSpPr>
            <a:spLocks noGrp="1"/>
          </p:cNvSpPr>
          <p:nvPr>
            <p:ph type="dt" sz="half" idx="10"/>
          </p:nvPr>
        </p:nvSpPr>
        <p:spPr/>
        <p:txBody>
          <a:bodyPr/>
          <a:lstStyle/>
          <a:p>
            <a:fld id="{C711C072-B467-4ACC-B1C2-2E8D3CF01C85}" type="datetime1">
              <a:rPr lang="en-IN" smtClean="0"/>
              <a:t>20-12-2024</a:t>
            </a:fld>
            <a:endParaRPr lang="en-IN"/>
          </a:p>
        </p:txBody>
      </p:sp>
      <p:sp>
        <p:nvSpPr>
          <p:cNvPr id="6" name="Slide Number Placeholder 5">
            <a:extLst>
              <a:ext uri="{FF2B5EF4-FFF2-40B4-BE49-F238E27FC236}">
                <a16:creationId xmlns:a16="http://schemas.microsoft.com/office/drawing/2014/main" xmlns="" id="{3F986C92-F33F-BFD8-8F3A-56D554B61FB2}"/>
              </a:ext>
            </a:extLst>
          </p:cNvPr>
          <p:cNvSpPr>
            <a:spLocks noGrp="1"/>
          </p:cNvSpPr>
          <p:nvPr>
            <p:ph type="sldNum" sz="quarter" idx="12"/>
          </p:nvPr>
        </p:nvSpPr>
        <p:spPr/>
        <p:txBody>
          <a:bodyPr/>
          <a:lstStyle/>
          <a:p>
            <a:fld id="{0B712F8A-C0D1-4E37-8851-7408E5047F0E}" type="slidenum">
              <a:rPr lang="en-IN" smtClean="0"/>
              <a:t>5</a:t>
            </a:fld>
            <a:endParaRPr lang="en-IN"/>
          </a:p>
        </p:txBody>
      </p:sp>
    </p:spTree>
    <p:extLst>
      <p:ext uri="{BB962C8B-B14F-4D97-AF65-F5344CB8AC3E}">
        <p14:creationId xmlns:p14="http://schemas.microsoft.com/office/powerpoint/2010/main" val="883553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2288" y="838200"/>
            <a:ext cx="8761413" cy="706964"/>
          </a:xfrm>
        </p:spPr>
        <p:txBody>
          <a:bodyPr/>
          <a:lstStyle/>
          <a:p>
            <a:r>
              <a:rPr lang="en-IN" b="1" dirty="0">
                <a:solidFill>
                  <a:srgbClr val="FFFF00"/>
                </a:solidFill>
              </a:rPr>
              <a:t>3. Literature review </a:t>
            </a:r>
          </a:p>
        </p:txBody>
      </p:sp>
      <p:sp>
        <p:nvSpPr>
          <p:cNvPr id="3" name="Content Placeholder 2"/>
          <p:cNvSpPr>
            <a:spLocks noGrp="1"/>
          </p:cNvSpPr>
          <p:nvPr>
            <p:ph idx="1"/>
          </p:nvPr>
        </p:nvSpPr>
        <p:spPr>
          <a:xfrm>
            <a:off x="452967" y="2239433"/>
            <a:ext cx="11286065" cy="3416300"/>
          </a:xfrm>
        </p:spPr>
        <p:txBody>
          <a:bodyPr>
            <a:normAutofit/>
          </a:bodyPr>
          <a:lstStyle/>
          <a:p>
            <a:pPr marL="0" indent="0" algn="just">
              <a:buNone/>
            </a:pPr>
            <a:r>
              <a:rPr lang="en-US" sz="2200" dirty="0">
                <a:solidFill>
                  <a:schemeClr val="tx1"/>
                </a:solidFill>
                <a:latin typeface="Times New Roman" panose="02020603050405020304" pitchFamily="18" charset="0"/>
                <a:cs typeface="Times New Roman" panose="02020603050405020304" pitchFamily="18" charset="0"/>
              </a:rPr>
              <a:t>This research aims to tackle the issue of attack classification for IDS with class imbalance in ML algorithms associated with the multi-step cyber-attacks (MSCA) dataset, enhancing the effectiveness and accuracy of these algorithms in the IoT domain. </a:t>
            </a:r>
          </a:p>
          <a:p>
            <a:pPr marL="0" indent="0" algn="just">
              <a:buNone/>
            </a:pPr>
            <a:endParaRPr lang="en-US" sz="2200" dirty="0">
              <a:solidFill>
                <a:schemeClr val="tx1"/>
              </a:solidFill>
              <a:latin typeface="Times New Roman" panose="02020603050405020304" pitchFamily="18" charset="0"/>
              <a:cs typeface="Times New Roman" panose="02020603050405020304" pitchFamily="18" charset="0"/>
            </a:endParaRPr>
          </a:p>
          <a:p>
            <a:pPr marL="342900" indent="-342900" algn="just"/>
            <a:r>
              <a:rPr lang="en-US" sz="2200" dirty="0">
                <a:solidFill>
                  <a:schemeClr val="tx1"/>
                </a:solidFill>
                <a:latin typeface="Times New Roman" panose="02020603050405020304" pitchFamily="18" charset="0"/>
                <a:cs typeface="Times New Roman" panose="02020603050405020304" pitchFamily="18" charset="0"/>
              </a:rPr>
              <a:t>Dalal </a:t>
            </a:r>
            <a:r>
              <a:rPr lang="en-US" sz="2200" i="1" dirty="0">
                <a:solidFill>
                  <a:schemeClr val="tx1"/>
                </a:solidFill>
                <a:latin typeface="Times New Roman" panose="02020603050405020304" pitchFamily="18" charset="0"/>
                <a:cs typeface="Times New Roman" panose="02020603050405020304" pitchFamily="18" charset="0"/>
              </a:rPr>
              <a:t>et al.,</a:t>
            </a:r>
            <a:r>
              <a:rPr lang="en-US" sz="2200" dirty="0">
                <a:solidFill>
                  <a:schemeClr val="tx1"/>
                </a:solidFill>
                <a:latin typeface="Times New Roman" panose="02020603050405020304" pitchFamily="18" charset="0"/>
                <a:cs typeface="Times New Roman" panose="02020603050405020304" pitchFamily="18" charset="0"/>
              </a:rPr>
              <a:t>[4] present the results of applying various ML algorithms and introduce a notably improved neural network method for predicting MSCAs. They developed an Extremely Boosted Neural Network (EBNN) by integrating multiple neural networks into a single framework. Their evaluation of the MSCA dataset shows that the EBNN reaches an outstanding accuracy of 99.72% in its predictions. </a:t>
            </a:r>
            <a:endParaRPr lang="en-IN" sz="2200" dirty="0">
              <a:solidFill>
                <a:schemeClr val="tx1"/>
              </a:solidFill>
            </a:endParaRPr>
          </a:p>
        </p:txBody>
      </p:sp>
      <p:sp>
        <p:nvSpPr>
          <p:cNvPr id="4" name="Footer Placeholder 3">
            <a:extLst>
              <a:ext uri="{FF2B5EF4-FFF2-40B4-BE49-F238E27FC236}">
                <a16:creationId xmlns:a16="http://schemas.microsoft.com/office/drawing/2014/main" xmlns="" id="{1CBF6307-557A-F2CB-2FE1-61148C586E9A}"/>
              </a:ext>
            </a:extLst>
          </p:cNvPr>
          <p:cNvSpPr>
            <a:spLocks noGrp="1"/>
          </p:cNvSpPr>
          <p:nvPr>
            <p:ph type="ftr" sz="quarter" idx="11"/>
          </p:nvPr>
        </p:nvSpPr>
        <p:spPr/>
        <p:txBody>
          <a:bodyPr/>
          <a:lstStyle/>
          <a:p>
            <a:r>
              <a:rPr lang="en-IN"/>
              <a:t>Ms.Gandu Lavanya, Dept. of Computer Science Engg., Malla Reddy University</a:t>
            </a:r>
          </a:p>
        </p:txBody>
      </p:sp>
      <p:sp>
        <p:nvSpPr>
          <p:cNvPr id="5" name="Date Placeholder 4">
            <a:extLst>
              <a:ext uri="{FF2B5EF4-FFF2-40B4-BE49-F238E27FC236}">
                <a16:creationId xmlns:a16="http://schemas.microsoft.com/office/drawing/2014/main" xmlns="" id="{51675202-1482-6BCB-757F-43FD050B2C7F}"/>
              </a:ext>
            </a:extLst>
          </p:cNvPr>
          <p:cNvSpPr>
            <a:spLocks noGrp="1"/>
          </p:cNvSpPr>
          <p:nvPr>
            <p:ph type="dt" sz="half" idx="10"/>
          </p:nvPr>
        </p:nvSpPr>
        <p:spPr/>
        <p:txBody>
          <a:bodyPr/>
          <a:lstStyle/>
          <a:p>
            <a:fld id="{96843C7A-0530-400D-B94B-E1B5994C5C27}" type="datetime1">
              <a:rPr lang="en-IN" smtClean="0"/>
              <a:t>20-12-2024</a:t>
            </a:fld>
            <a:endParaRPr lang="en-IN"/>
          </a:p>
        </p:txBody>
      </p:sp>
      <p:sp>
        <p:nvSpPr>
          <p:cNvPr id="6" name="Slide Number Placeholder 5">
            <a:extLst>
              <a:ext uri="{FF2B5EF4-FFF2-40B4-BE49-F238E27FC236}">
                <a16:creationId xmlns:a16="http://schemas.microsoft.com/office/drawing/2014/main" xmlns="" id="{AB2D2A44-F117-C528-A02E-E138FC72CBE9}"/>
              </a:ext>
            </a:extLst>
          </p:cNvPr>
          <p:cNvSpPr>
            <a:spLocks noGrp="1"/>
          </p:cNvSpPr>
          <p:nvPr>
            <p:ph type="sldNum" sz="quarter" idx="12"/>
          </p:nvPr>
        </p:nvSpPr>
        <p:spPr/>
        <p:txBody>
          <a:bodyPr/>
          <a:lstStyle/>
          <a:p>
            <a:fld id="{0B712F8A-C0D1-4E37-8851-7408E5047F0E}" type="slidenum">
              <a:rPr lang="en-IN" smtClean="0"/>
              <a:t>6</a:t>
            </a:fld>
            <a:endParaRPr lang="en-IN"/>
          </a:p>
        </p:txBody>
      </p:sp>
    </p:spTree>
    <p:extLst>
      <p:ext uri="{BB962C8B-B14F-4D97-AF65-F5344CB8AC3E}">
        <p14:creationId xmlns:p14="http://schemas.microsoft.com/office/powerpoint/2010/main" val="1162619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B9A80DF-66F3-530A-9285-E36194103D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C51A6EC-F44B-B4A1-65EA-B500919440FB}"/>
              </a:ext>
            </a:extLst>
          </p:cNvPr>
          <p:cNvSpPr>
            <a:spLocks noGrp="1"/>
          </p:cNvSpPr>
          <p:nvPr>
            <p:ph type="title"/>
          </p:nvPr>
        </p:nvSpPr>
        <p:spPr>
          <a:xfrm>
            <a:off x="562288" y="838200"/>
            <a:ext cx="8761413" cy="706964"/>
          </a:xfrm>
        </p:spPr>
        <p:txBody>
          <a:bodyPr/>
          <a:lstStyle/>
          <a:p>
            <a:r>
              <a:rPr lang="en-IN" b="1" dirty="0">
                <a:solidFill>
                  <a:srgbClr val="FFFF00"/>
                </a:solidFill>
              </a:rPr>
              <a:t>Continued…</a:t>
            </a:r>
          </a:p>
        </p:txBody>
      </p:sp>
      <p:sp>
        <p:nvSpPr>
          <p:cNvPr id="3" name="Content Placeholder 2">
            <a:extLst>
              <a:ext uri="{FF2B5EF4-FFF2-40B4-BE49-F238E27FC236}">
                <a16:creationId xmlns:a16="http://schemas.microsoft.com/office/drawing/2014/main" xmlns="" id="{C572BC6D-300B-97B2-A476-DAB57F770A50}"/>
              </a:ext>
            </a:extLst>
          </p:cNvPr>
          <p:cNvSpPr>
            <a:spLocks noGrp="1"/>
          </p:cNvSpPr>
          <p:nvPr>
            <p:ph idx="1"/>
          </p:nvPr>
        </p:nvSpPr>
        <p:spPr>
          <a:xfrm>
            <a:off x="452967" y="2239433"/>
            <a:ext cx="11286065" cy="3416300"/>
          </a:xfrm>
        </p:spPr>
        <p:txBody>
          <a:bodyPr>
            <a:normAutofit/>
          </a:bodyPr>
          <a:lstStyle/>
          <a:p>
            <a:pPr algn="just">
              <a:buFont typeface="Wingdings" panose="05000000000000000000" pitchFamily="2" charset="2"/>
              <a:buChar char="Ø"/>
            </a:pPr>
            <a:r>
              <a:rPr lang="en-US" sz="2200" dirty="0" err="1">
                <a:solidFill>
                  <a:schemeClr val="tx1"/>
                </a:solidFill>
                <a:latin typeface="Times New Roman" panose="02020603050405020304" pitchFamily="18" charset="0"/>
                <a:cs typeface="Times New Roman" panose="02020603050405020304" pitchFamily="18" charset="0"/>
              </a:rPr>
              <a:t>Alheeti</a:t>
            </a:r>
            <a:r>
              <a:rPr lang="en-US" sz="2200" dirty="0">
                <a:solidFill>
                  <a:schemeClr val="tx1"/>
                </a:solidFill>
                <a:latin typeface="Times New Roman" panose="02020603050405020304" pitchFamily="18" charset="0"/>
                <a:cs typeface="Times New Roman" panose="02020603050405020304" pitchFamily="18" charset="0"/>
              </a:rPr>
              <a:t> </a:t>
            </a:r>
            <a:r>
              <a:rPr lang="en-US" sz="2200" i="1" dirty="0">
                <a:solidFill>
                  <a:schemeClr val="tx1"/>
                </a:solidFill>
                <a:latin typeface="Times New Roman" panose="02020603050405020304" pitchFamily="18" charset="0"/>
                <a:cs typeface="Times New Roman" panose="02020603050405020304" pitchFamily="18" charset="0"/>
              </a:rPr>
              <a:t>et al.,</a:t>
            </a:r>
            <a:r>
              <a:rPr lang="en-US" sz="2200" dirty="0">
                <a:solidFill>
                  <a:schemeClr val="tx1"/>
                </a:solidFill>
                <a:latin typeface="Times New Roman" panose="02020603050405020304" pitchFamily="18" charset="0"/>
                <a:cs typeface="Times New Roman" panose="02020603050405020304" pitchFamily="18" charset="0"/>
              </a:rPr>
              <a:t>[5] introduce a smart IDS that utilizes the K-nearest neighbor algorithm to differentiate between normal and anomalous network traffic patterns. They evaluate the system's effectiveness using the MSCA dataset to identify new types of attacks. The trained models achieved an accuracy of 82.59%, enhancing detection performance.  </a:t>
            </a:r>
          </a:p>
          <a:p>
            <a:pPr algn="just">
              <a:buFont typeface="Wingdings" panose="05000000000000000000" pitchFamily="2" charset="2"/>
              <a:buChar char="Ø"/>
            </a:pPr>
            <a:endParaRPr lang="en-US" sz="2200" dirty="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Jamal </a:t>
            </a:r>
            <a:r>
              <a:rPr lang="en-US" sz="2200" i="1" dirty="0">
                <a:solidFill>
                  <a:schemeClr val="tx1"/>
                </a:solidFill>
                <a:latin typeface="Times New Roman" panose="02020603050405020304" pitchFamily="18" charset="0"/>
                <a:cs typeface="Times New Roman" panose="02020603050405020304" pitchFamily="18" charset="0"/>
              </a:rPr>
              <a:t>et al.,</a:t>
            </a:r>
            <a:r>
              <a:rPr lang="en-US" sz="2200" dirty="0">
                <a:solidFill>
                  <a:schemeClr val="tx1"/>
                </a:solidFill>
                <a:latin typeface="Times New Roman" panose="02020603050405020304" pitchFamily="18" charset="0"/>
                <a:cs typeface="Times New Roman" panose="02020603050405020304" pitchFamily="18" charset="0"/>
              </a:rPr>
              <a:t>[6] proposed a novel hybrid model for IDS in industrial networks, which is an integration of convolutional neural network, and Deep Belief Network with Synthetic Minority Oversampling Technique (SMOTE) and </a:t>
            </a:r>
            <a:r>
              <a:rPr lang="en-US" sz="2200" dirty="0" err="1">
                <a:solidFill>
                  <a:schemeClr val="tx1"/>
                </a:solidFill>
                <a:latin typeface="Times New Roman" panose="02020603050405020304" pitchFamily="18" charset="0"/>
                <a:cs typeface="Times New Roman" panose="02020603050405020304" pitchFamily="18" charset="0"/>
              </a:rPr>
              <a:t>SMOTETomek</a:t>
            </a:r>
            <a:r>
              <a:rPr lang="en-US" sz="2200" dirty="0">
                <a:solidFill>
                  <a:schemeClr val="tx1"/>
                </a:solidFill>
                <a:latin typeface="Times New Roman" panose="02020603050405020304" pitchFamily="18" charset="0"/>
                <a:cs typeface="Times New Roman" panose="02020603050405020304" pitchFamily="18" charset="0"/>
              </a:rPr>
              <a:t> balancing strategy is proposed. This extensive research work achieves an accuracy rate of 98%. </a:t>
            </a:r>
            <a:endParaRPr lang="en-IN" sz="2200" dirty="0">
              <a:solidFill>
                <a:schemeClr val="tx1"/>
              </a:solidFill>
            </a:endParaRPr>
          </a:p>
        </p:txBody>
      </p:sp>
      <p:sp>
        <p:nvSpPr>
          <p:cNvPr id="4" name="Footer Placeholder 3">
            <a:extLst>
              <a:ext uri="{FF2B5EF4-FFF2-40B4-BE49-F238E27FC236}">
                <a16:creationId xmlns:a16="http://schemas.microsoft.com/office/drawing/2014/main" xmlns="" id="{4ADD52EA-D41C-BB9F-37F2-37C10B267DE3}"/>
              </a:ext>
            </a:extLst>
          </p:cNvPr>
          <p:cNvSpPr>
            <a:spLocks noGrp="1"/>
          </p:cNvSpPr>
          <p:nvPr>
            <p:ph type="ftr" sz="quarter" idx="11"/>
          </p:nvPr>
        </p:nvSpPr>
        <p:spPr/>
        <p:txBody>
          <a:bodyPr/>
          <a:lstStyle/>
          <a:p>
            <a:r>
              <a:rPr lang="en-IN"/>
              <a:t>Ms.Gandu Lavanya, Dept. of Computer Science Engg., Malla Reddy University</a:t>
            </a:r>
          </a:p>
        </p:txBody>
      </p:sp>
      <p:sp>
        <p:nvSpPr>
          <p:cNvPr id="5" name="Date Placeholder 4">
            <a:extLst>
              <a:ext uri="{FF2B5EF4-FFF2-40B4-BE49-F238E27FC236}">
                <a16:creationId xmlns:a16="http://schemas.microsoft.com/office/drawing/2014/main" xmlns="" id="{71B5DA78-ACBF-B54B-3301-91CE165C88AF}"/>
              </a:ext>
            </a:extLst>
          </p:cNvPr>
          <p:cNvSpPr>
            <a:spLocks noGrp="1"/>
          </p:cNvSpPr>
          <p:nvPr>
            <p:ph type="dt" sz="half" idx="10"/>
          </p:nvPr>
        </p:nvSpPr>
        <p:spPr/>
        <p:txBody>
          <a:bodyPr/>
          <a:lstStyle/>
          <a:p>
            <a:fld id="{2182288C-6CA6-4AD9-B775-4B93998C6760}" type="datetime1">
              <a:rPr lang="en-IN" smtClean="0"/>
              <a:t>20-12-2024</a:t>
            </a:fld>
            <a:endParaRPr lang="en-IN"/>
          </a:p>
        </p:txBody>
      </p:sp>
      <p:sp>
        <p:nvSpPr>
          <p:cNvPr id="6" name="Slide Number Placeholder 5">
            <a:extLst>
              <a:ext uri="{FF2B5EF4-FFF2-40B4-BE49-F238E27FC236}">
                <a16:creationId xmlns:a16="http://schemas.microsoft.com/office/drawing/2014/main" xmlns="" id="{3345273E-0A84-5B13-3BFF-120FF457CE36}"/>
              </a:ext>
            </a:extLst>
          </p:cNvPr>
          <p:cNvSpPr>
            <a:spLocks noGrp="1"/>
          </p:cNvSpPr>
          <p:nvPr>
            <p:ph type="sldNum" sz="quarter" idx="12"/>
          </p:nvPr>
        </p:nvSpPr>
        <p:spPr/>
        <p:txBody>
          <a:bodyPr/>
          <a:lstStyle/>
          <a:p>
            <a:fld id="{0B712F8A-C0D1-4E37-8851-7408E5047F0E}" type="slidenum">
              <a:rPr lang="en-IN" smtClean="0"/>
              <a:t>7</a:t>
            </a:fld>
            <a:endParaRPr lang="en-IN"/>
          </a:p>
        </p:txBody>
      </p:sp>
    </p:spTree>
    <p:extLst>
      <p:ext uri="{BB962C8B-B14F-4D97-AF65-F5344CB8AC3E}">
        <p14:creationId xmlns:p14="http://schemas.microsoft.com/office/powerpoint/2010/main" val="405191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354" y="838200"/>
            <a:ext cx="8761413" cy="706964"/>
          </a:xfrm>
        </p:spPr>
        <p:txBody>
          <a:bodyPr/>
          <a:lstStyle/>
          <a:p>
            <a:r>
              <a:rPr lang="en-IN" b="1" dirty="0">
                <a:solidFill>
                  <a:srgbClr val="FFFF00"/>
                </a:solidFill>
                <a:latin typeface="Times New Roman" panose="02020603050405020304" pitchFamily="18" charset="0"/>
                <a:cs typeface="Times New Roman" panose="02020603050405020304" pitchFamily="18" charset="0"/>
              </a:rPr>
              <a:t>4. Methodology </a:t>
            </a:r>
            <a:endParaRPr lang="en-IN" b="1" dirty="0">
              <a:solidFill>
                <a:srgbClr val="FFFF00"/>
              </a:solidFill>
            </a:endParaRPr>
          </a:p>
        </p:txBody>
      </p:sp>
      <p:sp>
        <p:nvSpPr>
          <p:cNvPr id="3" name="Content Placeholder 2"/>
          <p:cNvSpPr>
            <a:spLocks noGrp="1"/>
          </p:cNvSpPr>
          <p:nvPr>
            <p:ph idx="1"/>
          </p:nvPr>
        </p:nvSpPr>
        <p:spPr>
          <a:xfrm>
            <a:off x="545354" y="2603500"/>
            <a:ext cx="11104779" cy="3416300"/>
          </a:xfrm>
        </p:spPr>
        <p:txBody>
          <a:bodyPr/>
          <a:lstStyle/>
          <a:p>
            <a:pPr marL="342900" indent="-342900" algn="just"/>
            <a:r>
              <a:rPr lang="en-US" sz="2200" dirty="0">
                <a:solidFill>
                  <a:schemeClr val="tx1"/>
                </a:solidFill>
                <a:latin typeface="Times New Roman" panose="02020603050405020304" pitchFamily="18" charset="0"/>
                <a:cs typeface="Times New Roman" panose="02020603050405020304" pitchFamily="18" charset="0"/>
              </a:rPr>
              <a:t>The Firefly Algorithm (FA) inspired by the bioluminescent behaviors of fireflies and certain beetles, utilizes their nighttime flashing as a form of communication.</a:t>
            </a:r>
          </a:p>
          <a:p>
            <a:pPr marL="0" indent="0" algn="just">
              <a:buNone/>
              <a:tabLst>
                <a:tab pos="982663" algn="l"/>
              </a:tabLst>
            </a:pPr>
            <a:r>
              <a:rPr lang="en-US" sz="2200" dirty="0">
                <a:solidFill>
                  <a:schemeClr val="tx1"/>
                </a:solidFill>
                <a:latin typeface="Times New Roman" panose="02020603050405020304" pitchFamily="18" charset="0"/>
                <a:cs typeface="Times New Roman" panose="02020603050405020304" pitchFamily="18" charset="0"/>
              </a:rPr>
              <a:t>     	 𝑖) fireflies attract one another regardless of gender,</a:t>
            </a:r>
          </a:p>
          <a:p>
            <a:pPr marL="0" indent="0" algn="just">
              <a:buNone/>
              <a:tabLst>
                <a:tab pos="982663" algn="l"/>
              </a:tabLst>
            </a:pPr>
            <a:r>
              <a:rPr lang="en-US" sz="2200" dirty="0">
                <a:solidFill>
                  <a:schemeClr val="tx1"/>
                </a:solidFill>
                <a:latin typeface="Times New Roman" panose="02020603050405020304" pitchFamily="18" charset="0"/>
                <a:cs typeface="Times New Roman" panose="02020603050405020304" pitchFamily="18" charset="0"/>
              </a:rPr>
              <a:t>    	 𝑖𝑖) brightness plays a crucial role in their attraction</a:t>
            </a:r>
          </a:p>
          <a:p>
            <a:pPr marL="0" indent="0" algn="just">
              <a:buNone/>
              <a:tabLst>
                <a:tab pos="982663" algn="l"/>
              </a:tabLst>
            </a:pPr>
            <a:endParaRPr lang="en-US" sz="2200" dirty="0">
              <a:solidFill>
                <a:schemeClr val="tx1"/>
              </a:solidFill>
              <a:latin typeface="Times New Roman" panose="02020603050405020304" pitchFamily="18" charset="0"/>
              <a:cs typeface="Times New Roman" panose="02020603050405020304" pitchFamily="18" charset="0"/>
            </a:endParaRPr>
          </a:p>
          <a:p>
            <a:pPr marL="342900" indent="-342900" algn="just"/>
            <a:r>
              <a:rPr lang="en-US" sz="2200" dirty="0">
                <a:solidFill>
                  <a:schemeClr val="tx1"/>
                </a:solidFill>
                <a:latin typeface="Times New Roman" panose="02020603050405020304" pitchFamily="18" charset="0"/>
                <a:cs typeface="Times New Roman" panose="02020603050405020304" pitchFamily="18" charset="0"/>
              </a:rPr>
              <a:t> When fireflies exhibit the same brightness, they move randomly.</a:t>
            </a:r>
            <a:endParaRPr lang="en-IN" sz="2200" dirty="0">
              <a:solidFill>
                <a:schemeClr val="tx1"/>
              </a:solidFill>
              <a:latin typeface="Times New Roman" panose="02020603050405020304" pitchFamily="18" charset="0"/>
              <a:cs typeface="Times New Roman" panose="02020603050405020304" pitchFamily="18" charset="0"/>
            </a:endParaRPr>
          </a:p>
          <a:p>
            <a:endParaRPr lang="en-IN" dirty="0"/>
          </a:p>
        </p:txBody>
      </p:sp>
      <p:sp>
        <p:nvSpPr>
          <p:cNvPr id="4" name="Footer Placeholder 3">
            <a:extLst>
              <a:ext uri="{FF2B5EF4-FFF2-40B4-BE49-F238E27FC236}">
                <a16:creationId xmlns:a16="http://schemas.microsoft.com/office/drawing/2014/main" xmlns="" id="{B2136C6E-06DA-D1B5-EE62-71867F56B42E}"/>
              </a:ext>
            </a:extLst>
          </p:cNvPr>
          <p:cNvSpPr>
            <a:spLocks noGrp="1"/>
          </p:cNvSpPr>
          <p:nvPr>
            <p:ph type="ftr" sz="quarter" idx="11"/>
          </p:nvPr>
        </p:nvSpPr>
        <p:spPr/>
        <p:txBody>
          <a:bodyPr/>
          <a:lstStyle/>
          <a:p>
            <a:r>
              <a:rPr lang="en-IN"/>
              <a:t>Ms.Gandu Lavanya, Dept. of Computer Science Engg., Malla Reddy University</a:t>
            </a:r>
          </a:p>
        </p:txBody>
      </p:sp>
      <p:sp>
        <p:nvSpPr>
          <p:cNvPr id="5" name="Date Placeholder 4">
            <a:extLst>
              <a:ext uri="{FF2B5EF4-FFF2-40B4-BE49-F238E27FC236}">
                <a16:creationId xmlns:a16="http://schemas.microsoft.com/office/drawing/2014/main" xmlns="" id="{D1628EDD-1A16-16DD-5BD5-FD45BC472E61}"/>
              </a:ext>
            </a:extLst>
          </p:cNvPr>
          <p:cNvSpPr>
            <a:spLocks noGrp="1"/>
          </p:cNvSpPr>
          <p:nvPr>
            <p:ph type="dt" sz="half" idx="10"/>
          </p:nvPr>
        </p:nvSpPr>
        <p:spPr/>
        <p:txBody>
          <a:bodyPr/>
          <a:lstStyle/>
          <a:p>
            <a:fld id="{D83D5E6D-A9C9-4A4A-ADBD-A86D3A581178}" type="datetime1">
              <a:rPr lang="en-IN" smtClean="0"/>
              <a:t>20-12-2024</a:t>
            </a:fld>
            <a:endParaRPr lang="en-IN"/>
          </a:p>
        </p:txBody>
      </p:sp>
      <p:sp>
        <p:nvSpPr>
          <p:cNvPr id="6" name="Slide Number Placeholder 5">
            <a:extLst>
              <a:ext uri="{FF2B5EF4-FFF2-40B4-BE49-F238E27FC236}">
                <a16:creationId xmlns:a16="http://schemas.microsoft.com/office/drawing/2014/main" xmlns="" id="{C323AFCC-320F-7750-186E-3C544556CA79}"/>
              </a:ext>
            </a:extLst>
          </p:cNvPr>
          <p:cNvSpPr>
            <a:spLocks noGrp="1"/>
          </p:cNvSpPr>
          <p:nvPr>
            <p:ph type="sldNum" sz="quarter" idx="12"/>
          </p:nvPr>
        </p:nvSpPr>
        <p:spPr/>
        <p:txBody>
          <a:bodyPr/>
          <a:lstStyle/>
          <a:p>
            <a:fld id="{0B712F8A-C0D1-4E37-8851-7408E5047F0E}" type="slidenum">
              <a:rPr lang="en-IN" smtClean="0"/>
              <a:t>8</a:t>
            </a:fld>
            <a:endParaRPr lang="en-IN"/>
          </a:p>
        </p:txBody>
      </p:sp>
    </p:spTree>
    <p:extLst>
      <p:ext uri="{BB962C8B-B14F-4D97-AF65-F5344CB8AC3E}">
        <p14:creationId xmlns:p14="http://schemas.microsoft.com/office/powerpoint/2010/main" val="665152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421" y="889002"/>
            <a:ext cx="8761413" cy="706964"/>
          </a:xfrm>
        </p:spPr>
        <p:txBody>
          <a:bodyPr/>
          <a:lstStyle/>
          <a:p>
            <a:r>
              <a:rPr lang="en-IN" b="1" dirty="0">
                <a:solidFill>
                  <a:srgbClr val="FFFF00"/>
                </a:solidFill>
                <a:latin typeface="Times New Roman" panose="02020603050405020304" pitchFamily="18" charset="0"/>
                <a:cs typeface="Times New Roman" panose="02020603050405020304" pitchFamily="18" charset="0"/>
              </a:rPr>
              <a:t>Continued…</a:t>
            </a:r>
            <a:endParaRPr lang="en-IN" b="1" dirty="0">
              <a:solidFill>
                <a:srgbClr val="FFFF00"/>
              </a:solidFill>
            </a:endParaRPr>
          </a:p>
        </p:txBody>
      </p:sp>
      <p:pic>
        <p:nvPicPr>
          <p:cNvPr id="6" name="Content Placeholder 5">
            <a:extLst>
              <a:ext uri="{FF2B5EF4-FFF2-40B4-BE49-F238E27FC236}">
                <a16:creationId xmlns:a16="http://schemas.microsoft.com/office/drawing/2014/main" xmlns="" id="{8AC93D58-FC96-ADCA-FA7E-10AC547528F0}"/>
              </a:ext>
            </a:extLst>
          </p:cNvPr>
          <p:cNvPicPr>
            <a:picLocks noGrp="1" noChangeAspect="1"/>
          </p:cNvPicPr>
          <p:nvPr>
            <p:ph idx="1"/>
          </p:nvPr>
        </p:nvPicPr>
        <p:blipFill>
          <a:blip r:embed="rId2"/>
          <a:stretch>
            <a:fillRect/>
          </a:stretch>
        </p:blipFill>
        <p:spPr>
          <a:xfrm>
            <a:off x="2699437" y="2294468"/>
            <a:ext cx="6590397" cy="4333664"/>
          </a:xfrm>
          <a:prstGeom prst="rect">
            <a:avLst/>
          </a:prstGeom>
        </p:spPr>
      </p:pic>
      <p:sp>
        <p:nvSpPr>
          <p:cNvPr id="7" name="Footer Placeholder 6">
            <a:extLst>
              <a:ext uri="{FF2B5EF4-FFF2-40B4-BE49-F238E27FC236}">
                <a16:creationId xmlns:a16="http://schemas.microsoft.com/office/drawing/2014/main" xmlns="" id="{EAFB360D-D2C9-05EB-2F6A-5C6394270AD5}"/>
              </a:ext>
            </a:extLst>
          </p:cNvPr>
          <p:cNvSpPr>
            <a:spLocks noGrp="1"/>
          </p:cNvSpPr>
          <p:nvPr>
            <p:ph type="ftr" sz="quarter" idx="11"/>
          </p:nvPr>
        </p:nvSpPr>
        <p:spPr/>
        <p:txBody>
          <a:bodyPr/>
          <a:lstStyle/>
          <a:p>
            <a:r>
              <a:rPr lang="en-IN"/>
              <a:t>Ms.Gandu Lavanya, Dept. of Computer Science Engg., Malla Reddy University</a:t>
            </a:r>
          </a:p>
        </p:txBody>
      </p:sp>
      <p:sp>
        <p:nvSpPr>
          <p:cNvPr id="8" name="Date Placeholder 7">
            <a:extLst>
              <a:ext uri="{FF2B5EF4-FFF2-40B4-BE49-F238E27FC236}">
                <a16:creationId xmlns:a16="http://schemas.microsoft.com/office/drawing/2014/main" xmlns="" id="{676764AB-33C9-28D2-4645-B689C4FF4195}"/>
              </a:ext>
            </a:extLst>
          </p:cNvPr>
          <p:cNvSpPr>
            <a:spLocks noGrp="1"/>
          </p:cNvSpPr>
          <p:nvPr>
            <p:ph type="dt" sz="half" idx="10"/>
          </p:nvPr>
        </p:nvSpPr>
        <p:spPr/>
        <p:txBody>
          <a:bodyPr/>
          <a:lstStyle/>
          <a:p>
            <a:fld id="{1C6735DC-5C14-440C-94CE-EFF91389DA1B}" type="datetime1">
              <a:rPr lang="en-IN" smtClean="0"/>
              <a:t>20-12-2024</a:t>
            </a:fld>
            <a:endParaRPr lang="en-IN"/>
          </a:p>
        </p:txBody>
      </p:sp>
      <p:sp>
        <p:nvSpPr>
          <p:cNvPr id="9" name="Slide Number Placeholder 8">
            <a:extLst>
              <a:ext uri="{FF2B5EF4-FFF2-40B4-BE49-F238E27FC236}">
                <a16:creationId xmlns:a16="http://schemas.microsoft.com/office/drawing/2014/main" xmlns="" id="{9B0134BE-3E67-6AE6-E69A-C27582778C3E}"/>
              </a:ext>
            </a:extLst>
          </p:cNvPr>
          <p:cNvSpPr>
            <a:spLocks noGrp="1"/>
          </p:cNvSpPr>
          <p:nvPr>
            <p:ph type="sldNum" sz="quarter" idx="12"/>
          </p:nvPr>
        </p:nvSpPr>
        <p:spPr/>
        <p:txBody>
          <a:bodyPr/>
          <a:lstStyle/>
          <a:p>
            <a:fld id="{0B712F8A-C0D1-4E37-8851-7408E5047F0E}" type="slidenum">
              <a:rPr lang="en-IN" smtClean="0"/>
              <a:t>9</a:t>
            </a:fld>
            <a:endParaRPr lang="en-IN"/>
          </a:p>
        </p:txBody>
      </p:sp>
    </p:spTree>
    <p:extLst>
      <p:ext uri="{BB962C8B-B14F-4D97-AF65-F5344CB8AC3E}">
        <p14:creationId xmlns:p14="http://schemas.microsoft.com/office/powerpoint/2010/main" val="3217180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438A832-1150-B5B6-2983-DC297260DD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4494117-0DC9-2E0D-BB94-FAC89B614C6C}"/>
              </a:ext>
            </a:extLst>
          </p:cNvPr>
          <p:cNvSpPr>
            <a:spLocks noGrp="1"/>
          </p:cNvSpPr>
          <p:nvPr>
            <p:ph type="title"/>
          </p:nvPr>
        </p:nvSpPr>
        <p:spPr>
          <a:xfrm>
            <a:off x="528421" y="889002"/>
            <a:ext cx="8761413" cy="706964"/>
          </a:xfrm>
        </p:spPr>
        <p:txBody>
          <a:bodyPr/>
          <a:lstStyle/>
          <a:p>
            <a:r>
              <a:rPr lang="en-IN" b="1" dirty="0">
                <a:solidFill>
                  <a:srgbClr val="FFFF00"/>
                </a:solidFill>
                <a:latin typeface="Times New Roman" panose="02020603050405020304" pitchFamily="18" charset="0"/>
                <a:cs typeface="Times New Roman" panose="02020603050405020304" pitchFamily="18" charset="0"/>
              </a:rPr>
              <a:t>Continued…</a:t>
            </a:r>
            <a:endParaRPr lang="en-IN" b="1" dirty="0">
              <a:solidFill>
                <a:srgbClr val="FFFF00"/>
              </a:solidFill>
            </a:endParaRPr>
          </a:p>
        </p:txBody>
      </p:sp>
      <p:pic>
        <p:nvPicPr>
          <p:cNvPr id="5" name="Picture 4">
            <a:extLst>
              <a:ext uri="{FF2B5EF4-FFF2-40B4-BE49-F238E27FC236}">
                <a16:creationId xmlns:a16="http://schemas.microsoft.com/office/drawing/2014/main" xmlns="" id="{6EBDF3E8-5BF0-5AB9-74C9-F4BF6AAC1F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0616" y="2350805"/>
            <a:ext cx="7409301" cy="3819736"/>
          </a:xfrm>
          <a:prstGeom prst="rect">
            <a:avLst/>
          </a:prstGeom>
        </p:spPr>
      </p:pic>
      <p:sp>
        <p:nvSpPr>
          <p:cNvPr id="8" name="TextBox 7">
            <a:extLst>
              <a:ext uri="{FF2B5EF4-FFF2-40B4-BE49-F238E27FC236}">
                <a16:creationId xmlns:a16="http://schemas.microsoft.com/office/drawing/2014/main" xmlns="" id="{9E2A4527-576B-76BE-80C8-42702EC5D739}"/>
              </a:ext>
            </a:extLst>
          </p:cNvPr>
          <p:cNvSpPr txBox="1"/>
          <p:nvPr/>
        </p:nvSpPr>
        <p:spPr>
          <a:xfrm>
            <a:off x="3107266" y="6170541"/>
            <a:ext cx="6096000" cy="427681"/>
          </a:xfrm>
          <a:prstGeom prst="rect">
            <a:avLst/>
          </a:prstGeom>
          <a:noFill/>
        </p:spPr>
        <p:txBody>
          <a:bodyPr wrap="square">
            <a:spAutoFit/>
          </a:bodyPr>
          <a:lstStyle/>
          <a:p>
            <a:pPr marL="6350" marR="36830" indent="-6350" algn="ctr">
              <a:lnSpc>
                <a:spcPct val="106000"/>
              </a:lnSpc>
              <a:spcAft>
                <a:spcPts val="10"/>
              </a:spcAft>
            </a:pPr>
            <a:r>
              <a:rPr lang="en-IN" sz="2200" kern="100" dirty="0">
                <a:effectLst/>
                <a:latin typeface="Times New Roman" panose="02020603050405020304" pitchFamily="18" charset="0"/>
                <a:ea typeface="Times New Roman" panose="02020603050405020304" pitchFamily="18" charset="0"/>
              </a:rPr>
              <a:t>Figure 1: System architecture</a:t>
            </a:r>
          </a:p>
        </p:txBody>
      </p:sp>
      <p:sp>
        <p:nvSpPr>
          <p:cNvPr id="9" name="Footer Placeholder 8">
            <a:extLst>
              <a:ext uri="{FF2B5EF4-FFF2-40B4-BE49-F238E27FC236}">
                <a16:creationId xmlns:a16="http://schemas.microsoft.com/office/drawing/2014/main" xmlns="" id="{B0A16BEF-475F-972E-F799-881F6FEF12DA}"/>
              </a:ext>
            </a:extLst>
          </p:cNvPr>
          <p:cNvSpPr>
            <a:spLocks noGrp="1"/>
          </p:cNvSpPr>
          <p:nvPr>
            <p:ph type="ftr" sz="quarter" idx="11"/>
          </p:nvPr>
        </p:nvSpPr>
        <p:spPr/>
        <p:txBody>
          <a:bodyPr/>
          <a:lstStyle/>
          <a:p>
            <a:r>
              <a:rPr lang="en-IN"/>
              <a:t>Ms.Gandu Lavanya, Dept. of Computer Science Engg., Malla Reddy University</a:t>
            </a:r>
          </a:p>
        </p:txBody>
      </p:sp>
      <p:sp>
        <p:nvSpPr>
          <p:cNvPr id="10" name="Date Placeholder 9">
            <a:extLst>
              <a:ext uri="{FF2B5EF4-FFF2-40B4-BE49-F238E27FC236}">
                <a16:creationId xmlns:a16="http://schemas.microsoft.com/office/drawing/2014/main" xmlns="" id="{88BDC00F-65EE-6C1A-F352-6B8A865766F6}"/>
              </a:ext>
            </a:extLst>
          </p:cNvPr>
          <p:cNvSpPr>
            <a:spLocks noGrp="1"/>
          </p:cNvSpPr>
          <p:nvPr>
            <p:ph type="dt" sz="half" idx="10"/>
          </p:nvPr>
        </p:nvSpPr>
        <p:spPr/>
        <p:txBody>
          <a:bodyPr/>
          <a:lstStyle/>
          <a:p>
            <a:fld id="{2BF30BEB-AE0E-490B-A060-ADAD126B6FAF}" type="datetime1">
              <a:rPr lang="en-IN" smtClean="0"/>
              <a:t>20-12-2024</a:t>
            </a:fld>
            <a:endParaRPr lang="en-IN"/>
          </a:p>
        </p:txBody>
      </p:sp>
      <p:sp>
        <p:nvSpPr>
          <p:cNvPr id="11" name="Slide Number Placeholder 10">
            <a:extLst>
              <a:ext uri="{FF2B5EF4-FFF2-40B4-BE49-F238E27FC236}">
                <a16:creationId xmlns:a16="http://schemas.microsoft.com/office/drawing/2014/main" xmlns="" id="{A0D24559-1BA1-71AF-364D-BBA30F996B77}"/>
              </a:ext>
            </a:extLst>
          </p:cNvPr>
          <p:cNvSpPr>
            <a:spLocks noGrp="1"/>
          </p:cNvSpPr>
          <p:nvPr>
            <p:ph type="sldNum" sz="quarter" idx="12"/>
          </p:nvPr>
        </p:nvSpPr>
        <p:spPr/>
        <p:txBody>
          <a:bodyPr/>
          <a:lstStyle/>
          <a:p>
            <a:fld id="{0B712F8A-C0D1-4E37-8851-7408E5047F0E}" type="slidenum">
              <a:rPr lang="en-IN" smtClean="0"/>
              <a:t>10</a:t>
            </a:fld>
            <a:endParaRPr lang="en-IN"/>
          </a:p>
        </p:txBody>
      </p:sp>
    </p:spTree>
    <p:extLst>
      <p:ext uri="{BB962C8B-B14F-4D97-AF65-F5344CB8AC3E}">
        <p14:creationId xmlns:p14="http://schemas.microsoft.com/office/powerpoint/2010/main" val="334678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9954" y="975604"/>
            <a:ext cx="8761413" cy="706964"/>
          </a:xfrm>
        </p:spPr>
        <p:txBody>
          <a:bodyPr>
            <a:normAutofit/>
          </a:bodyPr>
          <a:lstStyle/>
          <a:p>
            <a:r>
              <a:rPr lang="en-US" b="1" dirty="0">
                <a:solidFill>
                  <a:srgbClr val="FFFF00"/>
                </a:solidFill>
                <a:latin typeface="Times New Roman" panose="02020603050405020304" pitchFamily="18" charset="0"/>
                <a:cs typeface="Times New Roman" panose="02020603050405020304" pitchFamily="18" charset="0"/>
              </a:rPr>
              <a:t>Datasets Description </a:t>
            </a:r>
            <a:endParaRPr lang="en-IN" b="1" dirty="0">
              <a:solidFill>
                <a:srgbClr val="FFFF00"/>
              </a:solidFill>
            </a:endParaRPr>
          </a:p>
        </p:txBody>
      </p:sp>
      <p:sp>
        <p:nvSpPr>
          <p:cNvPr id="3" name="Content Placeholder 2"/>
          <p:cNvSpPr>
            <a:spLocks noGrp="1"/>
          </p:cNvSpPr>
          <p:nvPr>
            <p:ph idx="1"/>
          </p:nvPr>
        </p:nvSpPr>
        <p:spPr>
          <a:xfrm>
            <a:off x="519954" y="2245963"/>
            <a:ext cx="11130179" cy="3416300"/>
          </a:xfrm>
        </p:spPr>
        <p:txBody>
          <a:bodyPr/>
          <a:lstStyle/>
          <a:p>
            <a:pPr marL="342900" indent="-342900" algn="just"/>
            <a:r>
              <a:rPr lang="en-IN" sz="1800" dirty="0">
                <a:solidFill>
                  <a:srgbClr val="000000"/>
                </a:solidFill>
                <a:effectLst/>
                <a:latin typeface="Times New Roman" panose="02020603050405020304" pitchFamily="18" charset="0"/>
                <a:ea typeface="Times New Roman" panose="02020603050405020304" pitchFamily="18" charset="0"/>
              </a:rPr>
              <a:t>The dataset consists of 67 features aimed at predicting the network </a:t>
            </a:r>
            <a:r>
              <a:rPr lang="en-IN" sz="1800" dirty="0">
                <a:solidFill>
                  <a:schemeClr val="tx1"/>
                </a:solidFill>
                <a:effectLst/>
                <a:latin typeface="Times New Roman" panose="02020603050405020304" pitchFamily="18" charset="0"/>
                <a:ea typeface="Times New Roman" panose="02020603050405020304" pitchFamily="18" charset="0"/>
              </a:rPr>
              <a:t>activities. The attack classes are Brute Force (BF), Port Scan (PS), HTTP DDoS (HD), ICMP Flood (IF), Web Crawling (WC). Figure 2 exhibits the target class with total instances with normal activities and remaining as abnormal activities. The feature vectors for the training and validation sets were split in an 80:20 ratio, comprising 103039 instances for training and 25760 for validation. </a:t>
            </a:r>
            <a:endParaRPr lang="en-IN" dirty="0">
              <a:solidFill>
                <a:schemeClr val="tx1"/>
              </a:solidFill>
              <a:latin typeface="Times New Roman" panose="02020603050405020304" pitchFamily="18" charset="0"/>
              <a:cs typeface="Times New Roman" panose="02020603050405020304" pitchFamily="18" charset="0"/>
            </a:endParaRPr>
          </a:p>
          <a:p>
            <a:pPr marL="0" indent="0">
              <a:buNone/>
            </a:pPr>
            <a:endParaRPr lang="en-IN" dirty="0"/>
          </a:p>
        </p:txBody>
      </p:sp>
      <p:pic>
        <p:nvPicPr>
          <p:cNvPr id="6" name="Picture 5">
            <a:extLst>
              <a:ext uri="{FF2B5EF4-FFF2-40B4-BE49-F238E27FC236}">
                <a16:creationId xmlns:a16="http://schemas.microsoft.com/office/drawing/2014/main" xmlns="" id="{4D084F0D-4075-AD41-39E5-E936569E8066}"/>
              </a:ext>
            </a:extLst>
          </p:cNvPr>
          <p:cNvPicPr>
            <a:picLocks noChangeAspect="1"/>
          </p:cNvPicPr>
          <p:nvPr/>
        </p:nvPicPr>
        <p:blipFill>
          <a:blip r:embed="rId2"/>
          <a:stretch>
            <a:fillRect/>
          </a:stretch>
        </p:blipFill>
        <p:spPr>
          <a:xfrm>
            <a:off x="1107335" y="3725350"/>
            <a:ext cx="3653262" cy="2229690"/>
          </a:xfrm>
          <a:prstGeom prst="rect">
            <a:avLst/>
          </a:prstGeom>
        </p:spPr>
      </p:pic>
      <p:pic>
        <p:nvPicPr>
          <p:cNvPr id="8" name="Picture 7">
            <a:extLst>
              <a:ext uri="{FF2B5EF4-FFF2-40B4-BE49-F238E27FC236}">
                <a16:creationId xmlns:a16="http://schemas.microsoft.com/office/drawing/2014/main" xmlns="" id="{7E0CDC7D-B2D2-9821-AD12-AF3ABFFD271C}"/>
              </a:ext>
            </a:extLst>
          </p:cNvPr>
          <p:cNvPicPr>
            <a:picLocks noChangeAspect="1"/>
          </p:cNvPicPr>
          <p:nvPr/>
        </p:nvPicPr>
        <p:blipFill>
          <a:blip r:embed="rId3"/>
          <a:stretch>
            <a:fillRect/>
          </a:stretch>
        </p:blipFill>
        <p:spPr>
          <a:xfrm>
            <a:off x="6265333" y="3668464"/>
            <a:ext cx="4572000" cy="2213932"/>
          </a:xfrm>
          <a:prstGeom prst="rect">
            <a:avLst/>
          </a:prstGeom>
        </p:spPr>
      </p:pic>
      <p:sp>
        <p:nvSpPr>
          <p:cNvPr id="10" name="TextBox 9">
            <a:extLst>
              <a:ext uri="{FF2B5EF4-FFF2-40B4-BE49-F238E27FC236}">
                <a16:creationId xmlns:a16="http://schemas.microsoft.com/office/drawing/2014/main" xmlns="" id="{79F602C4-F013-A15E-BE03-E16A6FA9DC14}"/>
              </a:ext>
            </a:extLst>
          </p:cNvPr>
          <p:cNvSpPr txBox="1"/>
          <p:nvPr/>
        </p:nvSpPr>
        <p:spPr>
          <a:xfrm>
            <a:off x="1501673" y="5882396"/>
            <a:ext cx="3048000" cy="369332"/>
          </a:xfrm>
          <a:prstGeom prst="rect">
            <a:avLst/>
          </a:prstGeom>
          <a:noFill/>
        </p:spPr>
        <p:txBody>
          <a:bodyPr wrap="square">
            <a:spAutoFit/>
          </a:bodyPr>
          <a:lstStyle/>
          <a:p>
            <a:r>
              <a:rPr lang="en-IN" sz="1800" dirty="0">
                <a:solidFill>
                  <a:srgbClr val="000000"/>
                </a:solidFill>
                <a:effectLst/>
                <a:latin typeface="Times New Roman" panose="02020603050405020304" pitchFamily="18" charset="0"/>
                <a:ea typeface="Times New Roman" panose="02020603050405020304" pitchFamily="18" charset="0"/>
              </a:rPr>
              <a:t>(A)Target class classification</a:t>
            </a:r>
            <a:endParaRPr lang="en-IN" dirty="0"/>
          </a:p>
        </p:txBody>
      </p:sp>
      <p:sp>
        <p:nvSpPr>
          <p:cNvPr id="12" name="TextBox 11">
            <a:extLst>
              <a:ext uri="{FF2B5EF4-FFF2-40B4-BE49-F238E27FC236}">
                <a16:creationId xmlns:a16="http://schemas.microsoft.com/office/drawing/2014/main" xmlns="" id="{AFD57374-0E47-56EC-1D09-543549EB90B2}"/>
              </a:ext>
            </a:extLst>
          </p:cNvPr>
          <p:cNvSpPr txBox="1"/>
          <p:nvPr/>
        </p:nvSpPr>
        <p:spPr>
          <a:xfrm>
            <a:off x="7182689" y="5834648"/>
            <a:ext cx="3818467" cy="369332"/>
          </a:xfrm>
          <a:prstGeom prst="rect">
            <a:avLst/>
          </a:prstGeom>
          <a:noFill/>
        </p:spPr>
        <p:txBody>
          <a:bodyPr wrap="square">
            <a:spAutoFit/>
          </a:bodyPr>
          <a:lstStyle/>
          <a:p>
            <a:r>
              <a:rPr lang="en-IN" sz="1800" dirty="0">
                <a:solidFill>
                  <a:srgbClr val="000000"/>
                </a:solidFill>
                <a:effectLst/>
                <a:latin typeface="Times New Roman" panose="02020603050405020304" pitchFamily="18" charset="0"/>
                <a:ea typeface="Times New Roman" panose="02020603050405020304" pitchFamily="18" charset="0"/>
              </a:rPr>
              <a:t>(B)Attack class classification</a:t>
            </a:r>
            <a:endParaRPr lang="en-IN" dirty="0"/>
          </a:p>
        </p:txBody>
      </p:sp>
      <p:sp>
        <p:nvSpPr>
          <p:cNvPr id="14" name="TextBox 13">
            <a:extLst>
              <a:ext uri="{FF2B5EF4-FFF2-40B4-BE49-F238E27FC236}">
                <a16:creationId xmlns:a16="http://schemas.microsoft.com/office/drawing/2014/main" xmlns="" id="{035D6C46-D388-5736-9F6C-72A5FD4ED3D4}"/>
              </a:ext>
            </a:extLst>
          </p:cNvPr>
          <p:cNvSpPr txBox="1"/>
          <p:nvPr/>
        </p:nvSpPr>
        <p:spPr>
          <a:xfrm>
            <a:off x="3680113" y="6374278"/>
            <a:ext cx="5170440" cy="368755"/>
          </a:xfrm>
          <a:prstGeom prst="rect">
            <a:avLst/>
          </a:prstGeom>
          <a:noFill/>
        </p:spPr>
        <p:txBody>
          <a:bodyPr wrap="square">
            <a:spAutoFit/>
          </a:bodyPr>
          <a:lstStyle/>
          <a:p>
            <a:pPr marL="6350" marR="961390" indent="-6350" algn="ctr">
              <a:lnSpc>
                <a:spcPct val="107000"/>
              </a:lnSpc>
              <a:spcAft>
                <a:spcPts val="55"/>
              </a:spcAft>
            </a:pPr>
            <a:r>
              <a:rPr lang="en-IN" sz="1800" kern="100" dirty="0">
                <a:solidFill>
                  <a:srgbClr val="000000"/>
                </a:solidFill>
                <a:effectLst/>
                <a:latin typeface="Times New Roman" panose="02020603050405020304" pitchFamily="18" charset="0"/>
                <a:ea typeface="Times New Roman" panose="02020603050405020304" pitchFamily="18" charset="0"/>
              </a:rPr>
              <a:t>          Figure 2: Detailed view of dataset</a:t>
            </a:r>
          </a:p>
        </p:txBody>
      </p:sp>
      <p:sp>
        <p:nvSpPr>
          <p:cNvPr id="15" name="Footer Placeholder 14">
            <a:extLst>
              <a:ext uri="{FF2B5EF4-FFF2-40B4-BE49-F238E27FC236}">
                <a16:creationId xmlns:a16="http://schemas.microsoft.com/office/drawing/2014/main" xmlns="" id="{11230972-DB96-C5AD-014F-7559474DBFC5}"/>
              </a:ext>
            </a:extLst>
          </p:cNvPr>
          <p:cNvSpPr>
            <a:spLocks noGrp="1"/>
          </p:cNvSpPr>
          <p:nvPr>
            <p:ph type="ftr" sz="quarter" idx="11"/>
          </p:nvPr>
        </p:nvSpPr>
        <p:spPr/>
        <p:txBody>
          <a:bodyPr/>
          <a:lstStyle/>
          <a:p>
            <a:r>
              <a:rPr lang="en-IN"/>
              <a:t>Ms.Gandu Lavanya, Dept. of Computer Science Engg., Malla Reddy University</a:t>
            </a:r>
          </a:p>
        </p:txBody>
      </p:sp>
      <p:sp>
        <p:nvSpPr>
          <p:cNvPr id="16" name="Date Placeholder 15">
            <a:extLst>
              <a:ext uri="{FF2B5EF4-FFF2-40B4-BE49-F238E27FC236}">
                <a16:creationId xmlns:a16="http://schemas.microsoft.com/office/drawing/2014/main" xmlns="" id="{CD7BE2CA-3C48-8C0E-CF78-6D1A679C82E2}"/>
              </a:ext>
            </a:extLst>
          </p:cNvPr>
          <p:cNvSpPr>
            <a:spLocks noGrp="1"/>
          </p:cNvSpPr>
          <p:nvPr>
            <p:ph type="dt" sz="half" idx="10"/>
          </p:nvPr>
        </p:nvSpPr>
        <p:spPr/>
        <p:txBody>
          <a:bodyPr/>
          <a:lstStyle/>
          <a:p>
            <a:fld id="{A9FD07F5-DFD0-4204-B636-E78B11D504A0}" type="datetime1">
              <a:rPr lang="en-IN" smtClean="0"/>
              <a:t>20-12-2024</a:t>
            </a:fld>
            <a:endParaRPr lang="en-IN"/>
          </a:p>
        </p:txBody>
      </p:sp>
      <p:sp>
        <p:nvSpPr>
          <p:cNvPr id="17" name="Slide Number Placeholder 16">
            <a:extLst>
              <a:ext uri="{FF2B5EF4-FFF2-40B4-BE49-F238E27FC236}">
                <a16:creationId xmlns:a16="http://schemas.microsoft.com/office/drawing/2014/main" xmlns="" id="{A7E6205C-9D5D-D109-45E1-4D29E6CFE1C4}"/>
              </a:ext>
            </a:extLst>
          </p:cNvPr>
          <p:cNvSpPr>
            <a:spLocks noGrp="1"/>
          </p:cNvSpPr>
          <p:nvPr>
            <p:ph type="sldNum" sz="quarter" idx="12"/>
          </p:nvPr>
        </p:nvSpPr>
        <p:spPr/>
        <p:txBody>
          <a:bodyPr/>
          <a:lstStyle/>
          <a:p>
            <a:fld id="{0B712F8A-C0D1-4E37-8851-7408E5047F0E}" type="slidenum">
              <a:rPr lang="en-IN" smtClean="0"/>
              <a:t>11</a:t>
            </a:fld>
            <a:endParaRPr lang="en-IN"/>
          </a:p>
        </p:txBody>
      </p:sp>
    </p:spTree>
    <p:extLst>
      <p:ext uri="{BB962C8B-B14F-4D97-AF65-F5344CB8AC3E}">
        <p14:creationId xmlns:p14="http://schemas.microsoft.com/office/powerpoint/2010/main" val="193375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9954" y="838200"/>
            <a:ext cx="8761413" cy="706964"/>
          </a:xfrm>
        </p:spPr>
        <p:txBody>
          <a:bodyPr/>
          <a:lstStyle/>
          <a:p>
            <a:r>
              <a:rPr lang="en-IN" b="1" dirty="0">
                <a:solidFill>
                  <a:srgbClr val="FFFF00"/>
                </a:solidFill>
                <a:latin typeface="Times New Roman" panose="02020603050405020304" pitchFamily="18" charset="0"/>
                <a:cs typeface="Times New Roman" panose="02020603050405020304" pitchFamily="18" charset="0"/>
              </a:rPr>
              <a:t>Results and Discussion </a:t>
            </a:r>
            <a:endParaRPr lang="en-IN" b="1" dirty="0">
              <a:solidFill>
                <a:srgbClr val="FFFF00"/>
              </a:solidFill>
            </a:endParaRPr>
          </a:p>
        </p:txBody>
      </p:sp>
      <p:sp>
        <p:nvSpPr>
          <p:cNvPr id="3" name="Content Placeholder 2"/>
          <p:cNvSpPr>
            <a:spLocks noGrp="1"/>
          </p:cNvSpPr>
          <p:nvPr>
            <p:ph idx="1"/>
          </p:nvPr>
        </p:nvSpPr>
        <p:spPr>
          <a:xfrm>
            <a:off x="440267" y="2603500"/>
            <a:ext cx="11252199" cy="3416300"/>
          </a:xfrm>
        </p:spPr>
        <p:txBody>
          <a:bodyPr/>
          <a:lstStyle/>
          <a:p>
            <a:pPr marL="342900" indent="-342900" algn="just"/>
            <a:r>
              <a:rPr lang="en-US" sz="2200" dirty="0">
                <a:solidFill>
                  <a:schemeClr val="tx1"/>
                </a:solidFill>
                <a:latin typeface="Times New Roman" panose="02020603050405020304" pitchFamily="18" charset="0"/>
                <a:cs typeface="Times New Roman" panose="02020603050405020304" pitchFamily="18" charset="0"/>
              </a:rPr>
              <a:t>Hyper parameter tuning is crucial for improving the performance of IoT IDS due to the complex and dynamic nature of IoT environments. </a:t>
            </a:r>
          </a:p>
          <a:p>
            <a:pPr marL="342900" indent="-342900" algn="just"/>
            <a:r>
              <a:rPr lang="en-US" sz="2200" dirty="0">
                <a:solidFill>
                  <a:schemeClr val="tx1"/>
                </a:solidFill>
                <a:latin typeface="Times New Roman" panose="02020603050405020304" pitchFamily="18" charset="0"/>
                <a:cs typeface="Times New Roman" panose="02020603050405020304" pitchFamily="18" charset="0"/>
              </a:rPr>
              <a:t>The FA helps to identify optimal configurations for classifiers, enhancing their accuracy and robustness in detecting anomalies by dynamically adjusting to changing conditions and threat landscapes in IoT infrastructure.</a:t>
            </a:r>
            <a:endParaRPr lang="en-IN" sz="2200" dirty="0">
              <a:solidFill>
                <a:schemeClr val="tx1"/>
              </a:solidFill>
              <a:latin typeface="Times New Roman" panose="02020603050405020304" pitchFamily="18" charset="0"/>
              <a:cs typeface="Times New Roman" panose="02020603050405020304" pitchFamily="18" charset="0"/>
            </a:endParaRPr>
          </a:p>
          <a:p>
            <a:pPr algn="just"/>
            <a:endParaRPr lang="en-IN" dirty="0"/>
          </a:p>
        </p:txBody>
      </p:sp>
      <p:sp>
        <p:nvSpPr>
          <p:cNvPr id="5" name="Footer Placeholder 4">
            <a:extLst>
              <a:ext uri="{FF2B5EF4-FFF2-40B4-BE49-F238E27FC236}">
                <a16:creationId xmlns:a16="http://schemas.microsoft.com/office/drawing/2014/main" xmlns="" id="{0E4F7FBD-C17A-C11A-4F05-88DB33FE11A8}"/>
              </a:ext>
            </a:extLst>
          </p:cNvPr>
          <p:cNvSpPr>
            <a:spLocks noGrp="1"/>
          </p:cNvSpPr>
          <p:nvPr>
            <p:ph type="ftr" sz="quarter" idx="11"/>
          </p:nvPr>
        </p:nvSpPr>
        <p:spPr/>
        <p:txBody>
          <a:bodyPr/>
          <a:lstStyle/>
          <a:p>
            <a:r>
              <a:rPr lang="en-IN"/>
              <a:t>Ms.Gandu Lavanya, Dept. of Computer Science Engg., Malla Reddy University</a:t>
            </a:r>
          </a:p>
        </p:txBody>
      </p:sp>
      <p:sp>
        <p:nvSpPr>
          <p:cNvPr id="7" name="Date Placeholder 6">
            <a:extLst>
              <a:ext uri="{FF2B5EF4-FFF2-40B4-BE49-F238E27FC236}">
                <a16:creationId xmlns:a16="http://schemas.microsoft.com/office/drawing/2014/main" xmlns="" id="{082DA675-7A94-AFF0-8D67-E224381D80CF}"/>
              </a:ext>
            </a:extLst>
          </p:cNvPr>
          <p:cNvSpPr>
            <a:spLocks noGrp="1"/>
          </p:cNvSpPr>
          <p:nvPr>
            <p:ph type="dt" sz="half" idx="10"/>
          </p:nvPr>
        </p:nvSpPr>
        <p:spPr/>
        <p:txBody>
          <a:bodyPr/>
          <a:lstStyle/>
          <a:p>
            <a:fld id="{7DAC1C32-76A1-494E-91D3-14F4E930622A}" type="datetime1">
              <a:rPr lang="en-IN" smtClean="0"/>
              <a:t>20-12-2024</a:t>
            </a:fld>
            <a:endParaRPr lang="en-IN"/>
          </a:p>
        </p:txBody>
      </p:sp>
      <p:sp>
        <p:nvSpPr>
          <p:cNvPr id="8" name="Slide Number Placeholder 7">
            <a:extLst>
              <a:ext uri="{FF2B5EF4-FFF2-40B4-BE49-F238E27FC236}">
                <a16:creationId xmlns:a16="http://schemas.microsoft.com/office/drawing/2014/main" xmlns="" id="{F791E6BE-BC7C-6CFB-DF33-2CB6B99E7750}"/>
              </a:ext>
            </a:extLst>
          </p:cNvPr>
          <p:cNvSpPr>
            <a:spLocks noGrp="1"/>
          </p:cNvSpPr>
          <p:nvPr>
            <p:ph type="sldNum" sz="quarter" idx="12"/>
          </p:nvPr>
        </p:nvSpPr>
        <p:spPr/>
        <p:txBody>
          <a:bodyPr/>
          <a:lstStyle/>
          <a:p>
            <a:fld id="{0B712F8A-C0D1-4E37-8851-7408E5047F0E}" type="slidenum">
              <a:rPr lang="en-IN" smtClean="0"/>
              <a:t>12</a:t>
            </a:fld>
            <a:endParaRPr lang="en-IN"/>
          </a:p>
        </p:txBody>
      </p:sp>
    </p:spTree>
    <p:extLst>
      <p:ext uri="{BB962C8B-B14F-4D97-AF65-F5344CB8AC3E}">
        <p14:creationId xmlns:p14="http://schemas.microsoft.com/office/powerpoint/2010/main" val="182849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ACBD24-4A3C-16B2-DDC9-2E56A0C037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5F21F03-979C-D5F3-D6B9-C81501E18BBF}"/>
              </a:ext>
            </a:extLst>
          </p:cNvPr>
          <p:cNvSpPr>
            <a:spLocks noGrp="1"/>
          </p:cNvSpPr>
          <p:nvPr>
            <p:ph type="title"/>
          </p:nvPr>
        </p:nvSpPr>
        <p:spPr>
          <a:xfrm>
            <a:off x="519954" y="635000"/>
            <a:ext cx="8761413" cy="706964"/>
          </a:xfrm>
        </p:spPr>
        <p:txBody>
          <a:bodyPr/>
          <a:lstStyle/>
          <a:p>
            <a:r>
              <a:rPr lang="en-IN" b="1" dirty="0">
                <a:solidFill>
                  <a:srgbClr val="FFFF00"/>
                </a:solidFill>
                <a:latin typeface="Times New Roman" panose="02020603050405020304" pitchFamily="18" charset="0"/>
                <a:cs typeface="Times New Roman" panose="02020603050405020304" pitchFamily="18" charset="0"/>
              </a:rPr>
              <a:t>Continued…</a:t>
            </a:r>
            <a:endParaRPr lang="en-IN" b="1" dirty="0">
              <a:solidFill>
                <a:srgbClr val="FFFF00"/>
              </a:solidFill>
            </a:endParaRPr>
          </a:p>
        </p:txBody>
      </p:sp>
      <p:pic>
        <p:nvPicPr>
          <p:cNvPr id="4" name="Picture 3">
            <a:extLst>
              <a:ext uri="{FF2B5EF4-FFF2-40B4-BE49-F238E27FC236}">
                <a16:creationId xmlns:a16="http://schemas.microsoft.com/office/drawing/2014/main" xmlns="" id="{6617C6F0-61A8-C8F2-0DDD-0FDDF0246F58}"/>
              </a:ext>
            </a:extLst>
          </p:cNvPr>
          <p:cNvPicPr>
            <a:picLocks noChangeAspect="1"/>
          </p:cNvPicPr>
          <p:nvPr/>
        </p:nvPicPr>
        <p:blipFill>
          <a:blip r:embed="rId2"/>
          <a:stretch>
            <a:fillRect/>
          </a:stretch>
        </p:blipFill>
        <p:spPr>
          <a:xfrm>
            <a:off x="280564" y="1545164"/>
            <a:ext cx="6187483" cy="3094143"/>
          </a:xfrm>
          <a:prstGeom prst="rect">
            <a:avLst/>
          </a:prstGeom>
        </p:spPr>
      </p:pic>
      <p:pic>
        <p:nvPicPr>
          <p:cNvPr id="5" name="Picture 4">
            <a:extLst>
              <a:ext uri="{FF2B5EF4-FFF2-40B4-BE49-F238E27FC236}">
                <a16:creationId xmlns:a16="http://schemas.microsoft.com/office/drawing/2014/main" xmlns="" id="{4EAD861B-9D55-F553-3B56-F55164329086}"/>
              </a:ext>
            </a:extLst>
          </p:cNvPr>
          <p:cNvPicPr>
            <a:picLocks noChangeAspect="1"/>
          </p:cNvPicPr>
          <p:nvPr/>
        </p:nvPicPr>
        <p:blipFill>
          <a:blip r:embed="rId3"/>
          <a:stretch>
            <a:fillRect/>
          </a:stretch>
        </p:blipFill>
        <p:spPr>
          <a:xfrm>
            <a:off x="5884334" y="1545163"/>
            <a:ext cx="6187480" cy="3094143"/>
          </a:xfrm>
          <a:prstGeom prst="rect">
            <a:avLst/>
          </a:prstGeom>
        </p:spPr>
      </p:pic>
      <p:sp>
        <p:nvSpPr>
          <p:cNvPr id="7" name="TextBox 6">
            <a:extLst>
              <a:ext uri="{FF2B5EF4-FFF2-40B4-BE49-F238E27FC236}">
                <a16:creationId xmlns:a16="http://schemas.microsoft.com/office/drawing/2014/main" xmlns="" id="{9E0EE844-C52F-0A78-7C99-F88A41653151}"/>
              </a:ext>
            </a:extLst>
          </p:cNvPr>
          <p:cNvSpPr txBox="1"/>
          <p:nvPr/>
        </p:nvSpPr>
        <p:spPr>
          <a:xfrm>
            <a:off x="931333" y="4639306"/>
            <a:ext cx="6096000" cy="369332"/>
          </a:xfrm>
          <a:prstGeom prst="rect">
            <a:avLst/>
          </a:prstGeom>
          <a:noFill/>
        </p:spPr>
        <p:txBody>
          <a:bodyPr wrap="square">
            <a:spAutoFit/>
          </a:bodyPr>
          <a:lstStyle/>
          <a:p>
            <a:r>
              <a:rPr lang="en-IN" sz="1800" dirty="0">
                <a:solidFill>
                  <a:srgbClr val="000000"/>
                </a:solidFill>
                <a:effectLst/>
                <a:latin typeface="Times New Roman" panose="02020603050405020304" pitchFamily="18" charset="0"/>
                <a:ea typeface="Times New Roman" panose="02020603050405020304" pitchFamily="18" charset="0"/>
              </a:rPr>
              <a:t>Figure 3: Fitness score of DT with fireflies generation</a:t>
            </a:r>
            <a:endParaRPr lang="en-IN" dirty="0"/>
          </a:p>
        </p:txBody>
      </p:sp>
      <p:sp>
        <p:nvSpPr>
          <p:cNvPr id="9" name="TextBox 8">
            <a:extLst>
              <a:ext uri="{FF2B5EF4-FFF2-40B4-BE49-F238E27FC236}">
                <a16:creationId xmlns:a16="http://schemas.microsoft.com/office/drawing/2014/main" xmlns="" id="{A2FBFC38-0013-5566-D2EC-E2769E523DDB}"/>
              </a:ext>
            </a:extLst>
          </p:cNvPr>
          <p:cNvSpPr txBox="1"/>
          <p:nvPr/>
        </p:nvSpPr>
        <p:spPr>
          <a:xfrm>
            <a:off x="6535103" y="4639305"/>
            <a:ext cx="6096000" cy="369332"/>
          </a:xfrm>
          <a:prstGeom prst="rect">
            <a:avLst/>
          </a:prstGeom>
          <a:noFill/>
        </p:spPr>
        <p:txBody>
          <a:bodyPr wrap="square">
            <a:spAutoFit/>
          </a:bodyPr>
          <a:lstStyle/>
          <a:p>
            <a:r>
              <a:rPr lang="en-IN" sz="1800" dirty="0">
                <a:solidFill>
                  <a:srgbClr val="000000"/>
                </a:solidFill>
                <a:effectLst/>
                <a:latin typeface="Times New Roman" panose="02020603050405020304" pitchFamily="18" charset="0"/>
                <a:ea typeface="Times New Roman" panose="02020603050405020304" pitchFamily="18" charset="0"/>
              </a:rPr>
              <a:t>Figure 4: Fitness score of RF with fireflies generation</a:t>
            </a:r>
            <a:endParaRPr lang="en-IN" dirty="0"/>
          </a:p>
        </p:txBody>
      </p:sp>
      <p:sp>
        <p:nvSpPr>
          <p:cNvPr id="10" name="Footer Placeholder 9">
            <a:extLst>
              <a:ext uri="{FF2B5EF4-FFF2-40B4-BE49-F238E27FC236}">
                <a16:creationId xmlns:a16="http://schemas.microsoft.com/office/drawing/2014/main" xmlns="" id="{0F0675BB-E260-A383-4CC1-9CB31574D884}"/>
              </a:ext>
            </a:extLst>
          </p:cNvPr>
          <p:cNvSpPr>
            <a:spLocks noGrp="1"/>
          </p:cNvSpPr>
          <p:nvPr>
            <p:ph type="ftr" sz="quarter" idx="11"/>
          </p:nvPr>
        </p:nvSpPr>
        <p:spPr/>
        <p:txBody>
          <a:bodyPr/>
          <a:lstStyle/>
          <a:p>
            <a:r>
              <a:rPr lang="en-IN"/>
              <a:t>Ms.Gandu Lavanya, Dept. of Computer Science Engg., Malla Reddy University</a:t>
            </a:r>
          </a:p>
        </p:txBody>
      </p:sp>
      <p:sp>
        <p:nvSpPr>
          <p:cNvPr id="11" name="Date Placeholder 10">
            <a:extLst>
              <a:ext uri="{FF2B5EF4-FFF2-40B4-BE49-F238E27FC236}">
                <a16:creationId xmlns:a16="http://schemas.microsoft.com/office/drawing/2014/main" xmlns="" id="{2AFB4C9C-416E-ED33-7282-55E5AB52EE08}"/>
              </a:ext>
            </a:extLst>
          </p:cNvPr>
          <p:cNvSpPr>
            <a:spLocks noGrp="1"/>
          </p:cNvSpPr>
          <p:nvPr>
            <p:ph type="dt" sz="half" idx="10"/>
          </p:nvPr>
        </p:nvSpPr>
        <p:spPr/>
        <p:txBody>
          <a:bodyPr/>
          <a:lstStyle/>
          <a:p>
            <a:fld id="{5C6C9A0E-4EB4-4749-94E7-F39F8B5A34F1}" type="datetime1">
              <a:rPr lang="en-IN" smtClean="0"/>
              <a:t>20-12-2024</a:t>
            </a:fld>
            <a:endParaRPr lang="en-IN"/>
          </a:p>
        </p:txBody>
      </p:sp>
      <p:sp>
        <p:nvSpPr>
          <p:cNvPr id="12" name="Slide Number Placeholder 11">
            <a:extLst>
              <a:ext uri="{FF2B5EF4-FFF2-40B4-BE49-F238E27FC236}">
                <a16:creationId xmlns:a16="http://schemas.microsoft.com/office/drawing/2014/main" xmlns="" id="{8432E040-D8E9-4F79-A218-1BB03EDE16BC}"/>
              </a:ext>
            </a:extLst>
          </p:cNvPr>
          <p:cNvSpPr>
            <a:spLocks noGrp="1"/>
          </p:cNvSpPr>
          <p:nvPr>
            <p:ph type="sldNum" sz="quarter" idx="12"/>
          </p:nvPr>
        </p:nvSpPr>
        <p:spPr/>
        <p:txBody>
          <a:bodyPr/>
          <a:lstStyle/>
          <a:p>
            <a:fld id="{0B712F8A-C0D1-4E37-8851-7408E5047F0E}" type="slidenum">
              <a:rPr lang="en-IN" smtClean="0"/>
              <a:t>13</a:t>
            </a:fld>
            <a:endParaRPr lang="en-IN"/>
          </a:p>
        </p:txBody>
      </p:sp>
    </p:spTree>
    <p:extLst>
      <p:ext uri="{BB962C8B-B14F-4D97-AF65-F5344CB8AC3E}">
        <p14:creationId xmlns:p14="http://schemas.microsoft.com/office/powerpoint/2010/main" val="29196627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D25464E-4EB2-4024-DAC9-D55DC62AFE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9B90F1B-DBA1-816B-BFE6-69A23300A41E}"/>
              </a:ext>
            </a:extLst>
          </p:cNvPr>
          <p:cNvSpPr>
            <a:spLocks noGrp="1"/>
          </p:cNvSpPr>
          <p:nvPr>
            <p:ph type="title"/>
          </p:nvPr>
        </p:nvSpPr>
        <p:spPr>
          <a:xfrm>
            <a:off x="519954" y="635000"/>
            <a:ext cx="8761413" cy="706964"/>
          </a:xfrm>
        </p:spPr>
        <p:txBody>
          <a:bodyPr/>
          <a:lstStyle/>
          <a:p>
            <a:r>
              <a:rPr lang="en-IN" b="1" dirty="0">
                <a:solidFill>
                  <a:srgbClr val="FFFF00"/>
                </a:solidFill>
                <a:latin typeface="Times New Roman" panose="02020603050405020304" pitchFamily="18" charset="0"/>
                <a:cs typeface="Times New Roman" panose="02020603050405020304" pitchFamily="18" charset="0"/>
              </a:rPr>
              <a:t>Continued…</a:t>
            </a:r>
            <a:endParaRPr lang="en-IN" b="1" dirty="0">
              <a:solidFill>
                <a:srgbClr val="FFFF00"/>
              </a:solidFill>
            </a:endParaRPr>
          </a:p>
        </p:txBody>
      </p:sp>
      <p:pic>
        <p:nvPicPr>
          <p:cNvPr id="6" name="Picture 5">
            <a:extLst>
              <a:ext uri="{FF2B5EF4-FFF2-40B4-BE49-F238E27FC236}">
                <a16:creationId xmlns:a16="http://schemas.microsoft.com/office/drawing/2014/main" xmlns="" id="{56CC7BB7-5C95-AFBB-5EB2-503F2917925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7621" y="1341964"/>
            <a:ext cx="5152712" cy="3864534"/>
          </a:xfrm>
          <a:prstGeom prst="rect">
            <a:avLst/>
          </a:prstGeom>
          <a:noFill/>
        </p:spPr>
      </p:pic>
      <p:sp>
        <p:nvSpPr>
          <p:cNvPr id="11" name="TextBox 10">
            <a:extLst>
              <a:ext uri="{FF2B5EF4-FFF2-40B4-BE49-F238E27FC236}">
                <a16:creationId xmlns:a16="http://schemas.microsoft.com/office/drawing/2014/main" xmlns="" id="{2CAB10E4-3319-F97E-3B00-EF3558CC72A9}"/>
              </a:ext>
            </a:extLst>
          </p:cNvPr>
          <p:cNvSpPr txBox="1"/>
          <p:nvPr/>
        </p:nvSpPr>
        <p:spPr>
          <a:xfrm>
            <a:off x="1513993" y="5267867"/>
            <a:ext cx="3386667" cy="369332"/>
          </a:xfrm>
          <a:prstGeom prst="rect">
            <a:avLst/>
          </a:prstGeom>
          <a:noFill/>
        </p:spPr>
        <p:txBody>
          <a:bodyPr wrap="square">
            <a:spAutoFit/>
          </a:bodyPr>
          <a:lstStyle/>
          <a:p>
            <a:r>
              <a:rPr lang="en-IN" sz="1800">
                <a:solidFill>
                  <a:srgbClr val="000000"/>
                </a:solidFill>
                <a:effectLst/>
                <a:latin typeface="Times New Roman" panose="02020603050405020304" pitchFamily="18" charset="0"/>
                <a:ea typeface="Times New Roman" panose="02020603050405020304" pitchFamily="18" charset="0"/>
              </a:rPr>
              <a:t>(A): RF with tuned parameters</a:t>
            </a:r>
            <a:endParaRPr lang="en-IN" dirty="0"/>
          </a:p>
        </p:txBody>
      </p:sp>
      <p:pic>
        <p:nvPicPr>
          <p:cNvPr id="12" name="Picture 11">
            <a:extLst>
              <a:ext uri="{FF2B5EF4-FFF2-40B4-BE49-F238E27FC236}">
                <a16:creationId xmlns:a16="http://schemas.microsoft.com/office/drawing/2014/main" xmlns="" id="{6F0818A2-CED1-3CE9-8887-FCC064B10AD8}"/>
              </a:ext>
            </a:extLst>
          </p:cNvPr>
          <p:cNvPicPr>
            <a:picLocks noChangeAspect="1"/>
          </p:cNvPicPr>
          <p:nvPr/>
        </p:nvPicPr>
        <p:blipFill>
          <a:blip r:embed="rId3"/>
          <a:stretch>
            <a:fillRect/>
          </a:stretch>
        </p:blipFill>
        <p:spPr>
          <a:xfrm>
            <a:off x="6561668" y="1341964"/>
            <a:ext cx="5152711" cy="3864533"/>
          </a:xfrm>
          <a:prstGeom prst="rect">
            <a:avLst/>
          </a:prstGeom>
        </p:spPr>
      </p:pic>
      <p:sp>
        <p:nvSpPr>
          <p:cNvPr id="14" name="TextBox 13">
            <a:extLst>
              <a:ext uri="{FF2B5EF4-FFF2-40B4-BE49-F238E27FC236}">
                <a16:creationId xmlns:a16="http://schemas.microsoft.com/office/drawing/2014/main" xmlns="" id="{CC3DCDEC-97AE-733C-787B-13E9254648CB}"/>
              </a:ext>
            </a:extLst>
          </p:cNvPr>
          <p:cNvSpPr txBox="1"/>
          <p:nvPr/>
        </p:nvSpPr>
        <p:spPr>
          <a:xfrm>
            <a:off x="7586133" y="5206497"/>
            <a:ext cx="3598333" cy="369332"/>
          </a:xfrm>
          <a:prstGeom prst="rect">
            <a:avLst/>
          </a:prstGeom>
          <a:noFill/>
        </p:spPr>
        <p:txBody>
          <a:bodyPr wrap="square">
            <a:spAutoFit/>
          </a:bodyPr>
          <a:lstStyle/>
          <a:p>
            <a:r>
              <a:rPr lang="en-IN" sz="1800" dirty="0">
                <a:solidFill>
                  <a:srgbClr val="000000"/>
                </a:solidFill>
                <a:effectLst/>
                <a:latin typeface="Times New Roman" panose="02020603050405020304" pitchFamily="18" charset="0"/>
                <a:ea typeface="Times New Roman" panose="02020603050405020304" pitchFamily="18" charset="0"/>
              </a:rPr>
              <a:t>(B): RF with default parameters</a:t>
            </a:r>
            <a:endParaRPr lang="en-IN" dirty="0"/>
          </a:p>
        </p:txBody>
      </p:sp>
      <p:sp>
        <p:nvSpPr>
          <p:cNvPr id="15" name="Footer Placeholder 14">
            <a:extLst>
              <a:ext uri="{FF2B5EF4-FFF2-40B4-BE49-F238E27FC236}">
                <a16:creationId xmlns:a16="http://schemas.microsoft.com/office/drawing/2014/main" xmlns="" id="{7F9FC7BB-F162-CEAD-2BCD-E765A1187321}"/>
              </a:ext>
            </a:extLst>
          </p:cNvPr>
          <p:cNvSpPr>
            <a:spLocks noGrp="1"/>
          </p:cNvSpPr>
          <p:nvPr>
            <p:ph type="ftr" sz="quarter" idx="11"/>
          </p:nvPr>
        </p:nvSpPr>
        <p:spPr/>
        <p:txBody>
          <a:bodyPr/>
          <a:lstStyle/>
          <a:p>
            <a:r>
              <a:rPr lang="en-IN"/>
              <a:t>Ms.Gandu Lavanya, Dept. of Computer Science Engg., Malla Reddy University</a:t>
            </a:r>
          </a:p>
        </p:txBody>
      </p:sp>
      <p:sp>
        <p:nvSpPr>
          <p:cNvPr id="16" name="Date Placeholder 15">
            <a:extLst>
              <a:ext uri="{FF2B5EF4-FFF2-40B4-BE49-F238E27FC236}">
                <a16:creationId xmlns:a16="http://schemas.microsoft.com/office/drawing/2014/main" xmlns="" id="{41D4B24D-C53A-452A-417D-7582A1450FB5}"/>
              </a:ext>
            </a:extLst>
          </p:cNvPr>
          <p:cNvSpPr>
            <a:spLocks noGrp="1"/>
          </p:cNvSpPr>
          <p:nvPr>
            <p:ph type="dt" sz="half" idx="10"/>
          </p:nvPr>
        </p:nvSpPr>
        <p:spPr/>
        <p:txBody>
          <a:bodyPr/>
          <a:lstStyle/>
          <a:p>
            <a:fld id="{8D26EE3A-570D-4024-9CF6-D13260BB0D27}" type="datetime1">
              <a:rPr lang="en-IN" smtClean="0"/>
              <a:t>20-12-2024</a:t>
            </a:fld>
            <a:endParaRPr lang="en-IN"/>
          </a:p>
        </p:txBody>
      </p:sp>
      <p:sp>
        <p:nvSpPr>
          <p:cNvPr id="17" name="Slide Number Placeholder 16">
            <a:extLst>
              <a:ext uri="{FF2B5EF4-FFF2-40B4-BE49-F238E27FC236}">
                <a16:creationId xmlns:a16="http://schemas.microsoft.com/office/drawing/2014/main" xmlns="" id="{AED35208-C1CD-EAC0-B5BA-A3F8F36C166E}"/>
              </a:ext>
            </a:extLst>
          </p:cNvPr>
          <p:cNvSpPr>
            <a:spLocks noGrp="1"/>
          </p:cNvSpPr>
          <p:nvPr>
            <p:ph type="sldNum" sz="quarter" idx="12"/>
          </p:nvPr>
        </p:nvSpPr>
        <p:spPr/>
        <p:txBody>
          <a:bodyPr/>
          <a:lstStyle/>
          <a:p>
            <a:fld id="{0B712F8A-C0D1-4E37-8851-7408E5047F0E}" type="slidenum">
              <a:rPr lang="en-IN" smtClean="0"/>
              <a:t>14</a:t>
            </a:fld>
            <a:endParaRPr lang="en-IN"/>
          </a:p>
        </p:txBody>
      </p:sp>
      <p:pic>
        <p:nvPicPr>
          <p:cNvPr id="1026" name="Picture 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3276600" cy="2460625"/>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276600" cy="2460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1369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DCF2AB6-FE2E-4D52-6DAE-24BD35B288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1BD53E9-E814-8859-9A6D-FA544B326FB9}"/>
              </a:ext>
            </a:extLst>
          </p:cNvPr>
          <p:cNvSpPr>
            <a:spLocks noGrp="1"/>
          </p:cNvSpPr>
          <p:nvPr>
            <p:ph type="title"/>
          </p:nvPr>
        </p:nvSpPr>
        <p:spPr>
          <a:xfrm>
            <a:off x="519954" y="635000"/>
            <a:ext cx="8761413" cy="706964"/>
          </a:xfrm>
        </p:spPr>
        <p:txBody>
          <a:bodyPr/>
          <a:lstStyle/>
          <a:p>
            <a:r>
              <a:rPr lang="en-IN" b="1" dirty="0">
                <a:solidFill>
                  <a:srgbClr val="FFFF00"/>
                </a:solidFill>
                <a:latin typeface="Times New Roman" panose="02020603050405020304" pitchFamily="18" charset="0"/>
                <a:cs typeface="Times New Roman" panose="02020603050405020304" pitchFamily="18" charset="0"/>
              </a:rPr>
              <a:t>Continued…</a:t>
            </a:r>
            <a:endParaRPr lang="en-IN" b="1" dirty="0">
              <a:solidFill>
                <a:srgbClr val="FFFF00"/>
              </a:solidFill>
            </a:endParaRPr>
          </a:p>
        </p:txBody>
      </p:sp>
      <p:sp>
        <p:nvSpPr>
          <p:cNvPr id="11" name="TextBox 10">
            <a:extLst>
              <a:ext uri="{FF2B5EF4-FFF2-40B4-BE49-F238E27FC236}">
                <a16:creationId xmlns:a16="http://schemas.microsoft.com/office/drawing/2014/main" xmlns="" id="{63837E3F-D1AC-7935-DF97-15ED6E4FCE6E}"/>
              </a:ext>
            </a:extLst>
          </p:cNvPr>
          <p:cNvSpPr txBox="1"/>
          <p:nvPr/>
        </p:nvSpPr>
        <p:spPr>
          <a:xfrm>
            <a:off x="1513993" y="5267867"/>
            <a:ext cx="3386667" cy="369332"/>
          </a:xfrm>
          <a:prstGeom prst="rect">
            <a:avLst/>
          </a:prstGeom>
          <a:noFill/>
        </p:spPr>
        <p:txBody>
          <a:bodyPr wrap="square">
            <a:spAutoFit/>
          </a:bodyPr>
          <a:lstStyle/>
          <a:p>
            <a:r>
              <a:rPr lang="en-IN" sz="1800" dirty="0">
                <a:solidFill>
                  <a:srgbClr val="000000"/>
                </a:solidFill>
                <a:effectLst/>
                <a:latin typeface="Times New Roman" panose="02020603050405020304" pitchFamily="18" charset="0"/>
                <a:ea typeface="Times New Roman" panose="02020603050405020304" pitchFamily="18" charset="0"/>
              </a:rPr>
              <a:t>(C): DT with tuned parameters</a:t>
            </a:r>
            <a:endParaRPr lang="en-IN" dirty="0"/>
          </a:p>
        </p:txBody>
      </p:sp>
      <p:sp>
        <p:nvSpPr>
          <p:cNvPr id="14" name="TextBox 13">
            <a:extLst>
              <a:ext uri="{FF2B5EF4-FFF2-40B4-BE49-F238E27FC236}">
                <a16:creationId xmlns:a16="http://schemas.microsoft.com/office/drawing/2014/main" xmlns="" id="{B97D2B4F-EA7A-703A-0BA0-789EA33A24B1}"/>
              </a:ext>
            </a:extLst>
          </p:cNvPr>
          <p:cNvSpPr txBox="1"/>
          <p:nvPr/>
        </p:nvSpPr>
        <p:spPr>
          <a:xfrm>
            <a:off x="7594600" y="5267867"/>
            <a:ext cx="3598333" cy="369332"/>
          </a:xfrm>
          <a:prstGeom prst="rect">
            <a:avLst/>
          </a:prstGeom>
          <a:noFill/>
        </p:spPr>
        <p:txBody>
          <a:bodyPr wrap="square">
            <a:spAutoFit/>
          </a:bodyPr>
          <a:lstStyle/>
          <a:p>
            <a:r>
              <a:rPr lang="en-IN" sz="1800" dirty="0">
                <a:solidFill>
                  <a:srgbClr val="000000"/>
                </a:solidFill>
                <a:effectLst/>
                <a:latin typeface="Times New Roman" panose="02020603050405020304" pitchFamily="18" charset="0"/>
                <a:ea typeface="Times New Roman" panose="02020603050405020304" pitchFamily="18" charset="0"/>
              </a:rPr>
              <a:t>(D): DT default parameters</a:t>
            </a:r>
            <a:endParaRPr lang="en-IN" dirty="0"/>
          </a:p>
        </p:txBody>
      </p:sp>
      <p:pic>
        <p:nvPicPr>
          <p:cNvPr id="4" name="Picture 3">
            <a:extLst>
              <a:ext uri="{FF2B5EF4-FFF2-40B4-BE49-F238E27FC236}">
                <a16:creationId xmlns:a16="http://schemas.microsoft.com/office/drawing/2014/main" xmlns="" id="{3A879AC2-6059-ED8B-50C9-27534C3C45B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7621" y="1341963"/>
            <a:ext cx="5220446" cy="3916093"/>
          </a:xfrm>
          <a:prstGeom prst="rect">
            <a:avLst/>
          </a:prstGeom>
          <a:noFill/>
        </p:spPr>
      </p:pic>
      <p:pic>
        <p:nvPicPr>
          <p:cNvPr id="5" name="Picture 4">
            <a:extLst>
              <a:ext uri="{FF2B5EF4-FFF2-40B4-BE49-F238E27FC236}">
                <a16:creationId xmlns:a16="http://schemas.microsoft.com/office/drawing/2014/main" xmlns="" id="{84DB9CB4-01EF-C8A5-6E22-07B3E7A792C7}"/>
              </a:ext>
            </a:extLst>
          </p:cNvPr>
          <p:cNvPicPr>
            <a:picLocks noChangeAspect="1"/>
          </p:cNvPicPr>
          <p:nvPr/>
        </p:nvPicPr>
        <p:blipFill>
          <a:blip r:embed="rId3"/>
          <a:stretch>
            <a:fillRect/>
          </a:stretch>
        </p:blipFill>
        <p:spPr>
          <a:xfrm>
            <a:off x="6479840" y="1311279"/>
            <a:ext cx="5234539" cy="3925904"/>
          </a:xfrm>
          <a:prstGeom prst="rect">
            <a:avLst/>
          </a:prstGeom>
        </p:spPr>
      </p:pic>
      <p:sp>
        <p:nvSpPr>
          <p:cNvPr id="7" name="Footer Placeholder 6">
            <a:extLst>
              <a:ext uri="{FF2B5EF4-FFF2-40B4-BE49-F238E27FC236}">
                <a16:creationId xmlns:a16="http://schemas.microsoft.com/office/drawing/2014/main" xmlns="" id="{6F514638-7CFD-E056-2946-CE17F0A4F88D}"/>
              </a:ext>
            </a:extLst>
          </p:cNvPr>
          <p:cNvSpPr>
            <a:spLocks noGrp="1"/>
          </p:cNvSpPr>
          <p:nvPr>
            <p:ph type="ftr" sz="quarter" idx="11"/>
          </p:nvPr>
        </p:nvSpPr>
        <p:spPr/>
        <p:txBody>
          <a:bodyPr/>
          <a:lstStyle/>
          <a:p>
            <a:r>
              <a:rPr lang="en-IN"/>
              <a:t>Ms.Gandu Lavanya, Dept. of Computer Science Engg., Malla Reddy University</a:t>
            </a:r>
          </a:p>
        </p:txBody>
      </p:sp>
      <p:sp>
        <p:nvSpPr>
          <p:cNvPr id="8" name="Date Placeholder 7">
            <a:extLst>
              <a:ext uri="{FF2B5EF4-FFF2-40B4-BE49-F238E27FC236}">
                <a16:creationId xmlns:a16="http://schemas.microsoft.com/office/drawing/2014/main" xmlns="" id="{AFC553BB-42F3-4617-1BD8-D656D836EC42}"/>
              </a:ext>
            </a:extLst>
          </p:cNvPr>
          <p:cNvSpPr>
            <a:spLocks noGrp="1"/>
          </p:cNvSpPr>
          <p:nvPr>
            <p:ph type="dt" sz="half" idx="10"/>
          </p:nvPr>
        </p:nvSpPr>
        <p:spPr/>
        <p:txBody>
          <a:bodyPr/>
          <a:lstStyle/>
          <a:p>
            <a:fld id="{BDB9AE9D-7E41-415F-BDE1-440EEA893EA9}" type="datetime1">
              <a:rPr lang="en-IN" smtClean="0"/>
              <a:t>20-12-2024</a:t>
            </a:fld>
            <a:endParaRPr lang="en-IN"/>
          </a:p>
        </p:txBody>
      </p:sp>
      <p:sp>
        <p:nvSpPr>
          <p:cNvPr id="9" name="Slide Number Placeholder 8">
            <a:extLst>
              <a:ext uri="{FF2B5EF4-FFF2-40B4-BE49-F238E27FC236}">
                <a16:creationId xmlns:a16="http://schemas.microsoft.com/office/drawing/2014/main" xmlns="" id="{A11282DC-7D23-9A0F-0232-4E5424791C0D}"/>
              </a:ext>
            </a:extLst>
          </p:cNvPr>
          <p:cNvSpPr>
            <a:spLocks noGrp="1"/>
          </p:cNvSpPr>
          <p:nvPr>
            <p:ph type="sldNum" sz="quarter" idx="12"/>
          </p:nvPr>
        </p:nvSpPr>
        <p:spPr/>
        <p:txBody>
          <a:bodyPr/>
          <a:lstStyle/>
          <a:p>
            <a:fld id="{0B712F8A-C0D1-4E37-8851-7408E5047F0E}" type="slidenum">
              <a:rPr lang="en-IN" smtClean="0"/>
              <a:t>15</a:t>
            </a:fld>
            <a:endParaRPr lang="en-IN"/>
          </a:p>
        </p:txBody>
      </p:sp>
    </p:spTree>
    <p:extLst>
      <p:ext uri="{BB962C8B-B14F-4D97-AF65-F5344CB8AC3E}">
        <p14:creationId xmlns:p14="http://schemas.microsoft.com/office/powerpoint/2010/main" val="13824503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421" y="872068"/>
            <a:ext cx="8761413" cy="706964"/>
          </a:xfrm>
        </p:spPr>
        <p:txBody>
          <a:bodyPr/>
          <a:lstStyle/>
          <a:p>
            <a:r>
              <a:rPr lang="en-IN" b="1" dirty="0">
                <a:solidFill>
                  <a:srgbClr val="FFFF00"/>
                </a:solidFill>
                <a:latin typeface="Times New Roman" panose="02020603050405020304" pitchFamily="18" charset="0"/>
                <a:cs typeface="Times New Roman" panose="02020603050405020304" pitchFamily="18" charset="0"/>
              </a:rPr>
              <a:t>Continued…</a:t>
            </a:r>
            <a:endParaRPr lang="en-IN" b="1" dirty="0">
              <a:solidFill>
                <a:srgbClr val="FFFF00"/>
              </a:solidFill>
            </a:endParaRPr>
          </a:p>
        </p:txBody>
      </p:sp>
      <p:graphicFrame>
        <p:nvGraphicFramePr>
          <p:cNvPr id="6" name="Chart 5">
            <a:extLst>
              <a:ext uri="{FF2B5EF4-FFF2-40B4-BE49-F238E27FC236}">
                <a16:creationId xmlns:a16="http://schemas.microsoft.com/office/drawing/2014/main" xmlns="" id="{45410B1F-8143-CAF5-27B5-2632830D044F}"/>
              </a:ext>
            </a:extLst>
          </p:cNvPr>
          <p:cNvGraphicFramePr/>
          <p:nvPr>
            <p:extLst>
              <p:ext uri="{D42A27DB-BD31-4B8C-83A1-F6EECF244321}">
                <p14:modId xmlns:p14="http://schemas.microsoft.com/office/powerpoint/2010/main" val="387983576"/>
              </p:ext>
            </p:extLst>
          </p:nvPr>
        </p:nvGraphicFramePr>
        <p:xfrm>
          <a:off x="2370667" y="2401252"/>
          <a:ext cx="7620000" cy="3127481"/>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xmlns="" id="{1157E896-0782-D5BF-47C3-39371A0DC5F8}"/>
              </a:ext>
            </a:extLst>
          </p:cNvPr>
          <p:cNvSpPr txBox="1"/>
          <p:nvPr/>
        </p:nvSpPr>
        <p:spPr>
          <a:xfrm>
            <a:off x="3048000" y="5619229"/>
            <a:ext cx="6096000" cy="366703"/>
          </a:xfrm>
          <a:prstGeom prst="rect">
            <a:avLst/>
          </a:prstGeom>
          <a:noFill/>
        </p:spPr>
        <p:txBody>
          <a:bodyPr wrap="square">
            <a:spAutoFit/>
          </a:bodyPr>
          <a:lstStyle/>
          <a:p>
            <a:pPr marL="6350" marR="36830" indent="-6350" algn="ctr">
              <a:lnSpc>
                <a:spcPct val="106000"/>
              </a:lnSpc>
              <a:spcAft>
                <a:spcPts val="10"/>
              </a:spcAft>
            </a:pPr>
            <a:r>
              <a:rPr lang="en-IN" sz="1800" kern="100" dirty="0">
                <a:solidFill>
                  <a:srgbClr val="000000"/>
                </a:solidFill>
                <a:effectLst/>
                <a:latin typeface="Times New Roman" panose="02020603050405020304" pitchFamily="18" charset="0"/>
                <a:ea typeface="Times New Roman" panose="02020603050405020304" pitchFamily="18" charset="0"/>
              </a:rPr>
              <a:t>Figure 6: Evaluation metrics of the proposed models</a:t>
            </a:r>
          </a:p>
        </p:txBody>
      </p:sp>
      <p:sp>
        <p:nvSpPr>
          <p:cNvPr id="9" name="Footer Placeholder 8">
            <a:extLst>
              <a:ext uri="{FF2B5EF4-FFF2-40B4-BE49-F238E27FC236}">
                <a16:creationId xmlns:a16="http://schemas.microsoft.com/office/drawing/2014/main" xmlns="" id="{3274628C-F35D-2681-CD9D-249B3E780883}"/>
              </a:ext>
            </a:extLst>
          </p:cNvPr>
          <p:cNvSpPr>
            <a:spLocks noGrp="1"/>
          </p:cNvSpPr>
          <p:nvPr>
            <p:ph type="ftr" sz="quarter" idx="11"/>
          </p:nvPr>
        </p:nvSpPr>
        <p:spPr/>
        <p:txBody>
          <a:bodyPr/>
          <a:lstStyle/>
          <a:p>
            <a:r>
              <a:rPr lang="en-IN"/>
              <a:t>Ms.Gandu Lavanya, Dept. of Computer Science Engg., Malla Reddy University</a:t>
            </a:r>
          </a:p>
        </p:txBody>
      </p:sp>
      <p:sp>
        <p:nvSpPr>
          <p:cNvPr id="10" name="Date Placeholder 9">
            <a:extLst>
              <a:ext uri="{FF2B5EF4-FFF2-40B4-BE49-F238E27FC236}">
                <a16:creationId xmlns:a16="http://schemas.microsoft.com/office/drawing/2014/main" xmlns="" id="{FD11B85F-ECED-8C14-CF5D-D197CCCA58AB}"/>
              </a:ext>
            </a:extLst>
          </p:cNvPr>
          <p:cNvSpPr>
            <a:spLocks noGrp="1"/>
          </p:cNvSpPr>
          <p:nvPr>
            <p:ph type="dt" sz="half" idx="10"/>
          </p:nvPr>
        </p:nvSpPr>
        <p:spPr/>
        <p:txBody>
          <a:bodyPr/>
          <a:lstStyle/>
          <a:p>
            <a:fld id="{12243FAA-411B-46EF-90EF-8B49A586E7E9}" type="datetime1">
              <a:rPr lang="en-IN" smtClean="0"/>
              <a:t>20-12-2024</a:t>
            </a:fld>
            <a:endParaRPr lang="en-IN"/>
          </a:p>
        </p:txBody>
      </p:sp>
      <p:sp>
        <p:nvSpPr>
          <p:cNvPr id="11" name="Slide Number Placeholder 10">
            <a:extLst>
              <a:ext uri="{FF2B5EF4-FFF2-40B4-BE49-F238E27FC236}">
                <a16:creationId xmlns:a16="http://schemas.microsoft.com/office/drawing/2014/main" xmlns="" id="{CCFB5D4E-8F58-0D95-8CA6-43C97E4F7FD4}"/>
              </a:ext>
            </a:extLst>
          </p:cNvPr>
          <p:cNvSpPr>
            <a:spLocks noGrp="1"/>
          </p:cNvSpPr>
          <p:nvPr>
            <p:ph type="sldNum" sz="quarter" idx="12"/>
          </p:nvPr>
        </p:nvSpPr>
        <p:spPr/>
        <p:txBody>
          <a:bodyPr/>
          <a:lstStyle/>
          <a:p>
            <a:fld id="{0B712F8A-C0D1-4E37-8851-7408E5047F0E}" type="slidenum">
              <a:rPr lang="en-IN" smtClean="0"/>
              <a:t>16</a:t>
            </a:fld>
            <a:endParaRPr lang="en-IN"/>
          </a:p>
        </p:txBody>
      </p:sp>
    </p:spTree>
    <p:extLst>
      <p:ext uri="{BB962C8B-B14F-4D97-AF65-F5344CB8AC3E}">
        <p14:creationId xmlns:p14="http://schemas.microsoft.com/office/powerpoint/2010/main" val="1486836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933" y="924985"/>
            <a:ext cx="8761413" cy="706964"/>
          </a:xfrm>
        </p:spPr>
        <p:txBody>
          <a:bodyPr/>
          <a:lstStyle/>
          <a:p>
            <a:r>
              <a:rPr lang="en-IN" b="1" dirty="0">
                <a:solidFill>
                  <a:srgbClr val="FFFF00"/>
                </a:solidFill>
              </a:rPr>
              <a:t>Conclusion</a:t>
            </a:r>
            <a:r>
              <a:rPr lang="en-IN" b="1" dirty="0"/>
              <a:t> </a:t>
            </a:r>
          </a:p>
        </p:txBody>
      </p:sp>
      <p:sp>
        <p:nvSpPr>
          <p:cNvPr id="3" name="Content Placeholder 2"/>
          <p:cNvSpPr>
            <a:spLocks noGrp="1"/>
          </p:cNvSpPr>
          <p:nvPr>
            <p:ph idx="1"/>
          </p:nvPr>
        </p:nvSpPr>
        <p:spPr>
          <a:xfrm>
            <a:off x="524933" y="2332567"/>
            <a:ext cx="11159067" cy="4042833"/>
          </a:xfrm>
        </p:spPr>
        <p:txBody>
          <a:bodyPr>
            <a:noAutofit/>
          </a:bodyPr>
          <a:lstStyle/>
          <a:p>
            <a:pPr marL="342900" indent="-342900" algn="just"/>
            <a:r>
              <a:rPr lang="en-US" sz="2200" dirty="0">
                <a:solidFill>
                  <a:schemeClr val="tx1"/>
                </a:solidFill>
                <a:latin typeface="Times New Roman" panose="02020603050405020304" pitchFamily="18" charset="0"/>
                <a:cs typeface="Times New Roman" panose="02020603050405020304" pitchFamily="18" charset="0"/>
              </a:rPr>
              <a:t>In conclusion, both the RF and DT algorithms demonstrated strong performance in classifying attacks following hyper parameter tuning with the FA with an accuracy of 99.82% and 99.79%. </a:t>
            </a:r>
          </a:p>
          <a:p>
            <a:pPr marL="342900" indent="-342900" algn="just"/>
            <a:endParaRPr lang="en-US" sz="2200" dirty="0">
              <a:solidFill>
                <a:schemeClr val="tx1"/>
              </a:solidFill>
              <a:latin typeface="Times New Roman" panose="02020603050405020304" pitchFamily="18" charset="0"/>
              <a:cs typeface="Times New Roman" panose="02020603050405020304" pitchFamily="18" charset="0"/>
            </a:endParaRPr>
          </a:p>
          <a:p>
            <a:pPr marL="342900" indent="-342900" algn="just"/>
            <a:r>
              <a:rPr lang="en-US" sz="2200" dirty="0">
                <a:solidFill>
                  <a:schemeClr val="tx1"/>
                </a:solidFill>
                <a:latin typeface="Times New Roman" panose="02020603050405020304" pitchFamily="18" charset="0"/>
                <a:cs typeface="Times New Roman" panose="02020603050405020304" pitchFamily="18" charset="0"/>
              </a:rPr>
              <a:t>The optimization process significantly enhanced the models' ability to differentiate between normal and abnormal behaviors within the dataset, leading to improved accuracy and reduced false positives. </a:t>
            </a:r>
          </a:p>
          <a:p>
            <a:pPr marL="0" indent="0" algn="just">
              <a:buNone/>
            </a:pPr>
            <a:endParaRPr lang="en-US" sz="2200" dirty="0">
              <a:solidFill>
                <a:schemeClr val="tx1"/>
              </a:solidFill>
              <a:latin typeface="Times New Roman" panose="02020603050405020304" pitchFamily="18" charset="0"/>
              <a:cs typeface="Times New Roman" panose="02020603050405020304" pitchFamily="18" charset="0"/>
            </a:endParaRPr>
          </a:p>
          <a:p>
            <a:pPr marL="342900" indent="-342900" algn="just"/>
            <a:r>
              <a:rPr lang="en-US" sz="2200" dirty="0">
                <a:solidFill>
                  <a:schemeClr val="tx1"/>
                </a:solidFill>
                <a:latin typeface="Times New Roman" panose="02020603050405020304" pitchFamily="18" charset="0"/>
                <a:cs typeface="Times New Roman" panose="02020603050405020304" pitchFamily="18" charset="0"/>
              </a:rPr>
              <a:t>The FA effectively navigated the hyperparameter space, allowing for the selection of configurations that maximized the models' predictive capabilities</a:t>
            </a:r>
            <a:endParaRPr lang="en-IN" sz="2200" dirty="0">
              <a:solidFill>
                <a:schemeClr val="tx1"/>
              </a:solidFill>
              <a:latin typeface="Times New Roman" panose="02020603050405020304" pitchFamily="18" charset="0"/>
              <a:cs typeface="Times New Roman" panose="02020603050405020304" pitchFamily="18" charset="0"/>
            </a:endParaRPr>
          </a:p>
          <a:p>
            <a:endParaRPr lang="en-IN" sz="2200" dirty="0"/>
          </a:p>
        </p:txBody>
      </p:sp>
      <p:sp>
        <p:nvSpPr>
          <p:cNvPr id="4" name="Footer Placeholder 3">
            <a:extLst>
              <a:ext uri="{FF2B5EF4-FFF2-40B4-BE49-F238E27FC236}">
                <a16:creationId xmlns:a16="http://schemas.microsoft.com/office/drawing/2014/main" xmlns="" id="{11CB5E06-3FAA-241B-0764-7F5D76870BA8}"/>
              </a:ext>
            </a:extLst>
          </p:cNvPr>
          <p:cNvSpPr>
            <a:spLocks noGrp="1"/>
          </p:cNvSpPr>
          <p:nvPr>
            <p:ph type="ftr" sz="quarter" idx="11"/>
          </p:nvPr>
        </p:nvSpPr>
        <p:spPr/>
        <p:txBody>
          <a:bodyPr/>
          <a:lstStyle/>
          <a:p>
            <a:r>
              <a:rPr lang="en-IN"/>
              <a:t>Ms.Gandu Lavanya, Dept. of Computer Science Engg., Malla Reddy University</a:t>
            </a:r>
          </a:p>
        </p:txBody>
      </p:sp>
      <p:sp>
        <p:nvSpPr>
          <p:cNvPr id="5" name="Date Placeholder 4">
            <a:extLst>
              <a:ext uri="{FF2B5EF4-FFF2-40B4-BE49-F238E27FC236}">
                <a16:creationId xmlns:a16="http://schemas.microsoft.com/office/drawing/2014/main" xmlns="" id="{B03811E2-4682-36B8-9A75-FF0B2C637246}"/>
              </a:ext>
            </a:extLst>
          </p:cNvPr>
          <p:cNvSpPr>
            <a:spLocks noGrp="1"/>
          </p:cNvSpPr>
          <p:nvPr>
            <p:ph type="dt" sz="half" idx="10"/>
          </p:nvPr>
        </p:nvSpPr>
        <p:spPr/>
        <p:txBody>
          <a:bodyPr/>
          <a:lstStyle/>
          <a:p>
            <a:fld id="{83F93548-6D9B-456B-B171-E82EBB35C162}" type="datetime1">
              <a:rPr lang="en-IN" smtClean="0"/>
              <a:t>20-12-2024</a:t>
            </a:fld>
            <a:endParaRPr lang="en-IN"/>
          </a:p>
        </p:txBody>
      </p:sp>
      <p:sp>
        <p:nvSpPr>
          <p:cNvPr id="6" name="Slide Number Placeholder 5">
            <a:extLst>
              <a:ext uri="{FF2B5EF4-FFF2-40B4-BE49-F238E27FC236}">
                <a16:creationId xmlns:a16="http://schemas.microsoft.com/office/drawing/2014/main" xmlns="" id="{149070AC-F16D-660D-B402-FFB49788CF55}"/>
              </a:ext>
            </a:extLst>
          </p:cNvPr>
          <p:cNvSpPr>
            <a:spLocks noGrp="1"/>
          </p:cNvSpPr>
          <p:nvPr>
            <p:ph type="sldNum" sz="quarter" idx="12"/>
          </p:nvPr>
        </p:nvSpPr>
        <p:spPr/>
        <p:txBody>
          <a:bodyPr/>
          <a:lstStyle/>
          <a:p>
            <a:fld id="{0B712F8A-C0D1-4E37-8851-7408E5047F0E}" type="slidenum">
              <a:rPr lang="en-IN" smtClean="0"/>
              <a:t>17</a:t>
            </a:fld>
            <a:endParaRPr lang="en-IN"/>
          </a:p>
        </p:txBody>
      </p:sp>
    </p:spTree>
    <p:extLst>
      <p:ext uri="{BB962C8B-B14F-4D97-AF65-F5344CB8AC3E}">
        <p14:creationId xmlns:p14="http://schemas.microsoft.com/office/powerpoint/2010/main" val="2494365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9221" y="838200"/>
            <a:ext cx="8761413" cy="706964"/>
          </a:xfrm>
        </p:spPr>
        <p:txBody>
          <a:bodyPr/>
          <a:lstStyle/>
          <a:p>
            <a:r>
              <a:rPr lang="en-IN" dirty="0">
                <a:solidFill>
                  <a:srgbClr val="00B0F0"/>
                </a:solidFill>
                <a:latin typeface="Times New Roman" panose="02020603050405020304" pitchFamily="18" charset="0"/>
                <a:cs typeface="Times New Roman" panose="02020603050405020304" pitchFamily="18" charset="0"/>
              </a:rPr>
              <a:t> </a:t>
            </a:r>
            <a:r>
              <a:rPr lang="en-IN" b="1" dirty="0">
                <a:solidFill>
                  <a:srgbClr val="FFFF00"/>
                </a:solidFill>
                <a:latin typeface="Times New Roman" panose="02020603050405020304" pitchFamily="18" charset="0"/>
                <a:cs typeface="Times New Roman" panose="02020603050405020304" pitchFamily="18" charset="0"/>
              </a:rPr>
              <a:t>References</a:t>
            </a:r>
            <a:endParaRPr lang="en-IN" b="1" dirty="0">
              <a:solidFill>
                <a:srgbClr val="FFFF00"/>
              </a:solidFill>
            </a:endParaRPr>
          </a:p>
        </p:txBody>
      </p:sp>
      <p:sp>
        <p:nvSpPr>
          <p:cNvPr id="3" name="Content Placeholder 2"/>
          <p:cNvSpPr>
            <a:spLocks noGrp="1"/>
          </p:cNvSpPr>
          <p:nvPr>
            <p:ph idx="1"/>
          </p:nvPr>
        </p:nvSpPr>
        <p:spPr>
          <a:xfrm>
            <a:off x="414867" y="2201332"/>
            <a:ext cx="11235267" cy="4309533"/>
          </a:xfrm>
        </p:spPr>
        <p:txBody>
          <a:bodyPr>
            <a:noAutofit/>
          </a:bodyPr>
          <a:lstStyle/>
          <a:p>
            <a:pPr marL="0" indent="0" algn="just">
              <a:buNone/>
            </a:pPr>
            <a:r>
              <a:rPr lang="en-IN" sz="1600" dirty="0">
                <a:solidFill>
                  <a:schemeClr val="tx1"/>
                </a:solidFill>
                <a:latin typeface="Times New Roman" panose="02020603050405020304" pitchFamily="18" charset="0"/>
                <a:cs typeface="Times New Roman" panose="02020603050405020304" pitchFamily="18" charset="0"/>
              </a:rPr>
              <a:t>[1] M. A. Rahman, A. T. </a:t>
            </a:r>
            <a:r>
              <a:rPr lang="en-IN" sz="1600" dirty="0" err="1">
                <a:solidFill>
                  <a:schemeClr val="tx1"/>
                </a:solidFill>
                <a:latin typeface="Times New Roman" panose="02020603050405020304" pitchFamily="18" charset="0"/>
                <a:cs typeface="Times New Roman" panose="02020603050405020304" pitchFamily="18" charset="0"/>
              </a:rPr>
              <a:t>Asyhari</a:t>
            </a:r>
            <a:r>
              <a:rPr lang="en-IN" sz="1600" dirty="0">
                <a:solidFill>
                  <a:schemeClr val="tx1"/>
                </a:solidFill>
                <a:latin typeface="Times New Roman" panose="02020603050405020304" pitchFamily="18" charset="0"/>
                <a:cs typeface="Times New Roman" panose="02020603050405020304" pitchFamily="18" charset="0"/>
              </a:rPr>
              <a:t>, L. S. Leong, G. B. </a:t>
            </a:r>
            <a:r>
              <a:rPr lang="en-IN" sz="1600" dirty="0" err="1">
                <a:solidFill>
                  <a:schemeClr val="tx1"/>
                </a:solidFill>
                <a:latin typeface="Times New Roman" panose="02020603050405020304" pitchFamily="18" charset="0"/>
                <a:cs typeface="Times New Roman" panose="02020603050405020304" pitchFamily="18" charset="0"/>
              </a:rPr>
              <a:t>Satrya</a:t>
            </a:r>
            <a:r>
              <a:rPr lang="en-IN" sz="1600" dirty="0">
                <a:solidFill>
                  <a:schemeClr val="tx1"/>
                </a:solidFill>
                <a:latin typeface="Times New Roman" panose="02020603050405020304" pitchFamily="18" charset="0"/>
                <a:cs typeface="Times New Roman" panose="02020603050405020304" pitchFamily="18" charset="0"/>
              </a:rPr>
              <a:t>, M. </a:t>
            </a:r>
            <a:r>
              <a:rPr lang="en-IN" sz="1600" dirty="0" err="1">
                <a:solidFill>
                  <a:schemeClr val="tx1"/>
                </a:solidFill>
                <a:latin typeface="Times New Roman" panose="02020603050405020304" pitchFamily="18" charset="0"/>
                <a:cs typeface="Times New Roman" panose="02020603050405020304" pitchFamily="18" charset="0"/>
              </a:rPr>
              <a:t>Hai</a:t>
            </a:r>
            <a:r>
              <a:rPr lang="en-IN" sz="1600" dirty="0">
                <a:solidFill>
                  <a:schemeClr val="tx1"/>
                </a:solidFill>
                <a:latin typeface="Times New Roman" panose="02020603050405020304" pitchFamily="18" charset="0"/>
                <a:cs typeface="Times New Roman" panose="02020603050405020304" pitchFamily="18" charset="0"/>
              </a:rPr>
              <a:t> Tao, and M. F. </a:t>
            </a:r>
            <a:r>
              <a:rPr lang="en-IN" sz="1600" dirty="0" err="1">
                <a:solidFill>
                  <a:schemeClr val="tx1"/>
                </a:solidFill>
                <a:latin typeface="Times New Roman" panose="02020603050405020304" pitchFamily="18" charset="0"/>
                <a:cs typeface="Times New Roman" panose="02020603050405020304" pitchFamily="18" charset="0"/>
              </a:rPr>
              <a:t>Zolkipli</a:t>
            </a:r>
            <a:r>
              <a:rPr lang="en-IN" sz="1600" dirty="0">
                <a:solidFill>
                  <a:schemeClr val="tx1"/>
                </a:solidFill>
                <a:latin typeface="Times New Roman" panose="02020603050405020304" pitchFamily="18" charset="0"/>
                <a:cs typeface="Times New Roman" panose="02020603050405020304" pitchFamily="18" charset="0"/>
              </a:rPr>
              <a:t>, “Scalable machine learning-based intrusion detection system for </a:t>
            </a:r>
            <a:r>
              <a:rPr lang="en-IN" sz="1600" dirty="0" err="1">
                <a:solidFill>
                  <a:schemeClr val="tx1"/>
                </a:solidFill>
                <a:latin typeface="Times New Roman" panose="02020603050405020304" pitchFamily="18" charset="0"/>
                <a:cs typeface="Times New Roman" panose="02020603050405020304" pitchFamily="18" charset="0"/>
              </a:rPr>
              <a:t>IoT</a:t>
            </a:r>
            <a:r>
              <a:rPr lang="en-IN" sz="1600" dirty="0">
                <a:solidFill>
                  <a:schemeClr val="tx1"/>
                </a:solidFill>
                <a:latin typeface="Times New Roman" panose="02020603050405020304" pitchFamily="18" charset="0"/>
                <a:cs typeface="Times New Roman" panose="02020603050405020304" pitchFamily="18" charset="0"/>
              </a:rPr>
              <a:t> enabled smart cities,” Sustain Cities </a:t>
            </a:r>
            <a:r>
              <a:rPr lang="en-IN" sz="1600" dirty="0" err="1">
                <a:solidFill>
                  <a:schemeClr val="tx1"/>
                </a:solidFill>
                <a:latin typeface="Times New Roman" panose="02020603050405020304" pitchFamily="18" charset="0"/>
                <a:cs typeface="Times New Roman" panose="02020603050405020304" pitchFamily="18" charset="0"/>
              </a:rPr>
              <a:t>Soc</a:t>
            </a:r>
            <a:r>
              <a:rPr lang="en-IN" sz="1600" dirty="0">
                <a:solidFill>
                  <a:schemeClr val="tx1"/>
                </a:solidFill>
                <a:latin typeface="Times New Roman" panose="02020603050405020304" pitchFamily="18" charset="0"/>
                <a:cs typeface="Times New Roman" panose="02020603050405020304" pitchFamily="18" charset="0"/>
              </a:rPr>
              <a:t>, vol. 61, p. 102324, Oct. 2020, </a:t>
            </a:r>
            <a:r>
              <a:rPr lang="en-IN" sz="1600" dirty="0" err="1">
                <a:solidFill>
                  <a:schemeClr val="tx1"/>
                </a:solidFill>
                <a:latin typeface="Times New Roman" panose="02020603050405020304" pitchFamily="18" charset="0"/>
                <a:cs typeface="Times New Roman" panose="02020603050405020304" pitchFamily="18" charset="0"/>
              </a:rPr>
              <a:t>doi</a:t>
            </a:r>
            <a:r>
              <a:rPr lang="en-IN" sz="1600" dirty="0">
                <a:solidFill>
                  <a:schemeClr val="tx1"/>
                </a:solidFill>
                <a:latin typeface="Times New Roman" panose="02020603050405020304" pitchFamily="18" charset="0"/>
                <a:cs typeface="Times New Roman" panose="02020603050405020304" pitchFamily="18" charset="0"/>
              </a:rPr>
              <a:t>: 10.1016/j.scs.2020.102324. </a:t>
            </a:r>
          </a:p>
          <a:p>
            <a:pPr marL="0" indent="0" algn="just">
              <a:buNone/>
            </a:pPr>
            <a:r>
              <a:rPr lang="en-IN" sz="1600" dirty="0">
                <a:solidFill>
                  <a:schemeClr val="tx1"/>
                </a:solidFill>
                <a:latin typeface="Times New Roman" panose="02020603050405020304" pitchFamily="18" charset="0"/>
                <a:cs typeface="Times New Roman" panose="02020603050405020304" pitchFamily="18" charset="0"/>
              </a:rPr>
              <a:t>[2] D. K. K. ; Reddy, J. ; </a:t>
            </a:r>
            <a:r>
              <a:rPr lang="en-IN" sz="1600" dirty="0" err="1">
                <a:solidFill>
                  <a:schemeClr val="tx1"/>
                </a:solidFill>
                <a:latin typeface="Times New Roman" panose="02020603050405020304" pitchFamily="18" charset="0"/>
                <a:cs typeface="Times New Roman" panose="02020603050405020304" pitchFamily="18" charset="0"/>
              </a:rPr>
              <a:t>Nayak</a:t>
            </a:r>
            <a:r>
              <a:rPr lang="en-IN" sz="1600" dirty="0">
                <a:solidFill>
                  <a:schemeClr val="tx1"/>
                </a:solidFill>
                <a:latin typeface="Times New Roman" panose="02020603050405020304" pitchFamily="18" charset="0"/>
                <a:cs typeface="Times New Roman" panose="02020603050405020304" pitchFamily="18" charset="0"/>
              </a:rPr>
              <a:t>, B. ; </a:t>
            </a:r>
            <a:r>
              <a:rPr lang="en-IN" sz="1600" dirty="0" err="1">
                <a:solidFill>
                  <a:schemeClr val="tx1"/>
                </a:solidFill>
                <a:latin typeface="Times New Roman" panose="02020603050405020304" pitchFamily="18" charset="0"/>
                <a:cs typeface="Times New Roman" panose="02020603050405020304" pitchFamily="18" charset="0"/>
              </a:rPr>
              <a:t>Naik</a:t>
            </a:r>
            <a:r>
              <a:rPr lang="en-IN" sz="1600" dirty="0">
                <a:solidFill>
                  <a:schemeClr val="tx1"/>
                </a:solidFill>
                <a:latin typeface="Times New Roman" panose="02020603050405020304" pitchFamily="18" charset="0"/>
                <a:cs typeface="Times New Roman" panose="02020603050405020304" pitchFamily="18" charset="0"/>
              </a:rPr>
              <a:t>, and G. S. </a:t>
            </a:r>
            <a:r>
              <a:rPr lang="en-IN" sz="1600" dirty="0" err="1">
                <a:solidFill>
                  <a:schemeClr val="tx1"/>
                </a:solidFill>
                <a:latin typeface="Times New Roman" panose="02020603050405020304" pitchFamily="18" charset="0"/>
                <a:cs typeface="Times New Roman" panose="02020603050405020304" pitchFamily="18" charset="0"/>
              </a:rPr>
              <a:t>Pratyusha</a:t>
            </a:r>
            <a:r>
              <a:rPr lang="en-IN" sz="1600" dirty="0">
                <a:solidFill>
                  <a:schemeClr val="tx1"/>
                </a:solidFill>
                <a:latin typeface="Times New Roman" panose="02020603050405020304" pitchFamily="18" charset="0"/>
                <a:cs typeface="Times New Roman" panose="02020603050405020304" pitchFamily="18" charset="0"/>
              </a:rPr>
              <a:t>, Deep Neural Network–Based Security Model for </a:t>
            </a:r>
            <a:r>
              <a:rPr lang="en-IN" sz="1600" dirty="0" err="1">
                <a:solidFill>
                  <a:schemeClr val="tx1"/>
                </a:solidFill>
                <a:latin typeface="Times New Roman" panose="02020603050405020304" pitchFamily="18" charset="0"/>
                <a:cs typeface="Times New Roman" panose="02020603050405020304" pitchFamily="18" charset="0"/>
              </a:rPr>
              <a:t>IoT</a:t>
            </a:r>
            <a:r>
              <a:rPr lang="en-IN" sz="1600" dirty="0">
                <a:solidFill>
                  <a:schemeClr val="tx1"/>
                </a:solidFill>
                <a:latin typeface="Times New Roman" panose="02020603050405020304" pitchFamily="18" charset="0"/>
                <a:cs typeface="Times New Roman" panose="02020603050405020304" pitchFamily="18" charset="0"/>
              </a:rPr>
              <a:t> Device Network, 1st ed., no. 1. Boca Raton: CRC Press, 2021. </a:t>
            </a:r>
            <a:r>
              <a:rPr lang="en-IN" sz="1600" dirty="0" err="1">
                <a:solidFill>
                  <a:schemeClr val="tx1"/>
                </a:solidFill>
                <a:latin typeface="Times New Roman" panose="02020603050405020304" pitchFamily="18" charset="0"/>
                <a:cs typeface="Times New Roman" panose="02020603050405020304" pitchFamily="18" charset="0"/>
              </a:rPr>
              <a:t>doi</a:t>
            </a:r>
            <a:r>
              <a:rPr lang="en-IN" sz="1600" dirty="0">
                <a:solidFill>
                  <a:schemeClr val="tx1"/>
                </a:solidFill>
                <a:latin typeface="Times New Roman" panose="02020603050405020304" pitchFamily="18" charset="0"/>
                <a:cs typeface="Times New Roman" panose="02020603050405020304" pitchFamily="18" charset="0"/>
              </a:rPr>
              <a:t>: 10.1201/9781003032175.</a:t>
            </a:r>
          </a:p>
          <a:p>
            <a:pPr marL="0" indent="0" algn="just">
              <a:buNone/>
            </a:pPr>
            <a:r>
              <a:rPr lang="en-US" sz="1600" dirty="0">
                <a:solidFill>
                  <a:schemeClr val="tx1"/>
                </a:solidFill>
                <a:latin typeface="Times New Roman" panose="02020603050405020304" pitchFamily="18" charset="0"/>
                <a:cs typeface="Times New Roman" panose="02020603050405020304" pitchFamily="18" charset="0"/>
              </a:rPr>
              <a:t>[3]D. K. K. Reddy and H. S. </a:t>
            </a:r>
            <a:r>
              <a:rPr lang="en-US" sz="1600" dirty="0" err="1">
                <a:solidFill>
                  <a:schemeClr val="tx1"/>
                </a:solidFill>
                <a:latin typeface="Times New Roman" panose="02020603050405020304" pitchFamily="18" charset="0"/>
                <a:cs typeface="Times New Roman" panose="02020603050405020304" pitchFamily="18" charset="0"/>
              </a:rPr>
              <a:t>Behera</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CatBoosting</a:t>
            </a:r>
            <a:r>
              <a:rPr lang="en-US" sz="1600" dirty="0">
                <a:solidFill>
                  <a:schemeClr val="tx1"/>
                </a:solidFill>
                <a:latin typeface="Times New Roman" panose="02020603050405020304" pitchFamily="18" charset="0"/>
                <a:cs typeface="Times New Roman" panose="02020603050405020304" pitchFamily="18" charset="0"/>
              </a:rPr>
              <a:t> Approach for Anomaly Detection in IoT-Based Smart Home Environment,” 2022, pp. 753–764. </a:t>
            </a:r>
            <a:r>
              <a:rPr lang="en-US" sz="1600" dirty="0" err="1">
                <a:solidFill>
                  <a:schemeClr val="tx1"/>
                </a:solidFill>
                <a:latin typeface="Times New Roman" panose="02020603050405020304" pitchFamily="18" charset="0"/>
                <a:cs typeface="Times New Roman" panose="02020603050405020304" pitchFamily="18" charset="0"/>
              </a:rPr>
              <a:t>doi</a:t>
            </a:r>
            <a:r>
              <a:rPr lang="en-US" sz="1600" dirty="0">
                <a:solidFill>
                  <a:schemeClr val="tx1"/>
                </a:solidFill>
                <a:latin typeface="Times New Roman" panose="02020603050405020304" pitchFamily="18" charset="0"/>
                <a:cs typeface="Times New Roman" panose="02020603050405020304" pitchFamily="18" charset="0"/>
              </a:rPr>
              <a:t>: 10.1007/978-981-16-9447-9_56. </a:t>
            </a:r>
          </a:p>
          <a:p>
            <a:pPr marL="0" indent="0" algn="just">
              <a:buNone/>
            </a:pPr>
            <a:r>
              <a:rPr lang="en-US" sz="1600" dirty="0">
                <a:solidFill>
                  <a:schemeClr val="tx1"/>
                </a:solidFill>
                <a:latin typeface="Times New Roman" panose="02020603050405020304" pitchFamily="18" charset="0"/>
                <a:cs typeface="Times New Roman" panose="02020603050405020304" pitchFamily="18" charset="0"/>
              </a:rPr>
              <a:t>[4]</a:t>
            </a:r>
            <a:r>
              <a:rPr lang="en-IN" sz="1600" dirty="0">
                <a:solidFill>
                  <a:schemeClr val="tx1"/>
                </a:solidFill>
                <a:latin typeface="Times New Roman" panose="02020603050405020304" pitchFamily="18" charset="0"/>
                <a:cs typeface="Times New Roman" panose="02020603050405020304" pitchFamily="18" charset="0"/>
              </a:rPr>
              <a:t> Y. </a:t>
            </a:r>
            <a:r>
              <a:rPr lang="en-IN" sz="1600" dirty="0" err="1">
                <a:solidFill>
                  <a:schemeClr val="tx1"/>
                </a:solidFill>
                <a:latin typeface="Times New Roman" panose="02020603050405020304" pitchFamily="18" charset="0"/>
                <a:cs typeface="Times New Roman" panose="02020603050405020304" pitchFamily="18" charset="0"/>
              </a:rPr>
              <a:t>Otoum</a:t>
            </a:r>
            <a:r>
              <a:rPr lang="en-IN" sz="1600" dirty="0">
                <a:solidFill>
                  <a:schemeClr val="tx1"/>
                </a:solidFill>
                <a:latin typeface="Times New Roman" panose="02020603050405020304" pitchFamily="18" charset="0"/>
                <a:cs typeface="Times New Roman" panose="02020603050405020304" pitchFamily="18" charset="0"/>
              </a:rPr>
              <a:t>, D. Liu, and A. </a:t>
            </a:r>
            <a:r>
              <a:rPr lang="en-IN" sz="1600" dirty="0" err="1">
                <a:solidFill>
                  <a:schemeClr val="tx1"/>
                </a:solidFill>
                <a:latin typeface="Times New Roman" panose="02020603050405020304" pitchFamily="18" charset="0"/>
                <a:cs typeface="Times New Roman" panose="02020603050405020304" pitchFamily="18" charset="0"/>
              </a:rPr>
              <a:t>Nayak</a:t>
            </a:r>
            <a:r>
              <a:rPr lang="en-IN" sz="1600" dirty="0">
                <a:solidFill>
                  <a:schemeClr val="tx1"/>
                </a:solidFill>
                <a:latin typeface="Times New Roman" panose="02020603050405020304" pitchFamily="18" charset="0"/>
                <a:cs typeface="Times New Roman" panose="02020603050405020304" pitchFamily="18" charset="0"/>
              </a:rPr>
              <a:t>, “DL-IDS: a deep learning–based intrusion detection framework for securing </a:t>
            </a:r>
            <a:r>
              <a:rPr lang="en-IN" sz="1600" dirty="0" err="1">
                <a:solidFill>
                  <a:schemeClr val="tx1"/>
                </a:solidFill>
                <a:latin typeface="Times New Roman" panose="02020603050405020304" pitchFamily="18" charset="0"/>
                <a:cs typeface="Times New Roman" panose="02020603050405020304" pitchFamily="18" charset="0"/>
              </a:rPr>
              <a:t>IoT</a:t>
            </a:r>
            <a:r>
              <a:rPr lang="en-IN" sz="1600" dirty="0">
                <a:solidFill>
                  <a:schemeClr val="tx1"/>
                </a:solidFill>
                <a:latin typeface="Times New Roman" panose="02020603050405020304" pitchFamily="18" charset="0"/>
                <a:cs typeface="Times New Roman" panose="02020603050405020304" pitchFamily="18" charset="0"/>
              </a:rPr>
              <a:t>,” Transactions on Emerging Telecommunications Technologies, vol. 33, no. 3, pp. 1–14, 2022, </a:t>
            </a:r>
            <a:r>
              <a:rPr lang="en-IN" sz="1600" dirty="0" err="1">
                <a:solidFill>
                  <a:schemeClr val="tx1"/>
                </a:solidFill>
                <a:latin typeface="Times New Roman" panose="02020603050405020304" pitchFamily="18" charset="0"/>
                <a:cs typeface="Times New Roman" panose="02020603050405020304" pitchFamily="18" charset="0"/>
              </a:rPr>
              <a:t>doi</a:t>
            </a:r>
            <a:r>
              <a:rPr lang="en-IN" sz="1600" dirty="0">
                <a:solidFill>
                  <a:schemeClr val="tx1"/>
                </a:solidFill>
                <a:latin typeface="Times New Roman" panose="02020603050405020304" pitchFamily="18" charset="0"/>
                <a:cs typeface="Times New Roman" panose="02020603050405020304" pitchFamily="18" charset="0"/>
              </a:rPr>
              <a:t>: 10.1002/ett.3803. </a:t>
            </a:r>
          </a:p>
          <a:p>
            <a:pPr marL="0" indent="0" algn="just">
              <a:buNone/>
            </a:pPr>
            <a:r>
              <a:rPr lang="en-IN" sz="1600" dirty="0">
                <a:solidFill>
                  <a:schemeClr val="tx1"/>
                </a:solidFill>
                <a:latin typeface="Times New Roman" panose="02020603050405020304" pitchFamily="18" charset="0"/>
                <a:cs typeface="Times New Roman" panose="02020603050405020304" pitchFamily="18" charset="0"/>
              </a:rPr>
              <a:t>[5]S. K. </a:t>
            </a:r>
            <a:r>
              <a:rPr lang="en-IN" sz="1600" dirty="0" err="1">
                <a:solidFill>
                  <a:schemeClr val="tx1"/>
                </a:solidFill>
                <a:latin typeface="Times New Roman" panose="02020603050405020304" pitchFamily="18" charset="0"/>
                <a:cs typeface="Times New Roman" panose="02020603050405020304" pitchFamily="18" charset="0"/>
              </a:rPr>
              <a:t>Pemmada</a:t>
            </a:r>
            <a:r>
              <a:rPr lang="en-IN" sz="1600" dirty="0">
                <a:solidFill>
                  <a:schemeClr val="tx1"/>
                </a:solidFill>
                <a:latin typeface="Times New Roman" panose="02020603050405020304" pitchFamily="18" charset="0"/>
                <a:cs typeface="Times New Roman" panose="02020603050405020304" pitchFamily="18" charset="0"/>
              </a:rPr>
              <a:t>, K. S. Naidu, and D. K. K. Reddy, “SMOTE Integrated Adaptive Boosting Framework for Network Intrusion Detection,” in Intelligent Systems Reference Library, vol. 60, Springer Science and Business Media Deutschland GmbH, 2024, pp. 1–25. </a:t>
            </a:r>
            <a:r>
              <a:rPr lang="en-IN" sz="1600" dirty="0" err="1">
                <a:solidFill>
                  <a:schemeClr val="tx1"/>
                </a:solidFill>
                <a:latin typeface="Times New Roman" panose="02020603050405020304" pitchFamily="18" charset="0"/>
                <a:cs typeface="Times New Roman" panose="02020603050405020304" pitchFamily="18" charset="0"/>
              </a:rPr>
              <a:t>doi</a:t>
            </a:r>
            <a:r>
              <a:rPr lang="en-IN" sz="1600" dirty="0">
                <a:solidFill>
                  <a:schemeClr val="tx1"/>
                </a:solidFill>
                <a:latin typeface="Times New Roman" panose="02020603050405020304" pitchFamily="18" charset="0"/>
                <a:cs typeface="Times New Roman" panose="02020603050405020304" pitchFamily="18" charset="0"/>
              </a:rPr>
              <a:t>: 10.1007/978-3-031-54038-7_1.</a:t>
            </a:r>
          </a:p>
          <a:p>
            <a:pPr marL="0" indent="0" algn="just">
              <a:buNone/>
            </a:pPr>
            <a:r>
              <a:rPr lang="en-IN" sz="1600" dirty="0">
                <a:solidFill>
                  <a:schemeClr val="tx1"/>
                </a:solidFill>
                <a:latin typeface="Times New Roman" panose="02020603050405020304" pitchFamily="18" charset="0"/>
                <a:cs typeface="Times New Roman" panose="02020603050405020304" pitchFamily="18" charset="0"/>
              </a:rPr>
              <a:t>[6]J. </a:t>
            </a:r>
            <a:r>
              <a:rPr lang="en-IN" sz="1600" dirty="0" err="1">
                <a:solidFill>
                  <a:schemeClr val="tx1"/>
                </a:solidFill>
                <a:latin typeface="Times New Roman" panose="02020603050405020304" pitchFamily="18" charset="0"/>
                <a:cs typeface="Times New Roman" panose="02020603050405020304" pitchFamily="18" charset="0"/>
              </a:rPr>
              <a:t>Nayak</a:t>
            </a:r>
            <a:r>
              <a:rPr lang="en-IN" sz="1600" dirty="0">
                <a:solidFill>
                  <a:schemeClr val="tx1"/>
                </a:solidFill>
                <a:latin typeface="Times New Roman" panose="02020603050405020304" pitchFamily="18" charset="0"/>
                <a:cs typeface="Times New Roman" panose="02020603050405020304" pitchFamily="18" charset="0"/>
              </a:rPr>
              <a:t>, P. S. Kumar, D. K. K. Reddy, B. </a:t>
            </a:r>
            <a:r>
              <a:rPr lang="en-IN" sz="1600" dirty="0" err="1">
                <a:solidFill>
                  <a:schemeClr val="tx1"/>
                </a:solidFill>
                <a:latin typeface="Times New Roman" panose="02020603050405020304" pitchFamily="18" charset="0"/>
                <a:cs typeface="Times New Roman" panose="02020603050405020304" pitchFamily="18" charset="0"/>
              </a:rPr>
              <a:t>Naik</a:t>
            </a:r>
            <a:r>
              <a:rPr lang="en-IN" sz="1600" dirty="0">
                <a:solidFill>
                  <a:schemeClr val="tx1"/>
                </a:solidFill>
                <a:latin typeface="Times New Roman" panose="02020603050405020304" pitchFamily="18" charset="0"/>
                <a:cs typeface="Times New Roman" panose="02020603050405020304" pitchFamily="18" charset="0"/>
              </a:rPr>
              <a:t>, and D. </a:t>
            </a:r>
            <a:r>
              <a:rPr lang="en-IN" sz="1600" dirty="0" err="1">
                <a:solidFill>
                  <a:schemeClr val="tx1"/>
                </a:solidFill>
                <a:latin typeface="Times New Roman" panose="02020603050405020304" pitchFamily="18" charset="0"/>
                <a:cs typeface="Times New Roman" panose="02020603050405020304" pitchFamily="18" charset="0"/>
              </a:rPr>
              <a:t>Pelusi</a:t>
            </a:r>
            <a:r>
              <a:rPr lang="en-IN" sz="1600" dirty="0">
                <a:solidFill>
                  <a:schemeClr val="tx1"/>
                </a:solidFill>
                <a:latin typeface="Times New Roman" panose="02020603050405020304" pitchFamily="18" charset="0"/>
                <a:cs typeface="Times New Roman" panose="02020603050405020304" pitchFamily="18" charset="0"/>
              </a:rPr>
              <a:t>, “Machine Learning and Big Data in Cyber‐Physical System: Methods, Applications and Challenges,” in Cognitive Engineering for Next Generation Computing, Wiley, 2021, pp. 49–91. </a:t>
            </a:r>
            <a:r>
              <a:rPr lang="en-IN" sz="1600" dirty="0" err="1">
                <a:solidFill>
                  <a:schemeClr val="tx1"/>
                </a:solidFill>
                <a:latin typeface="Times New Roman" panose="02020603050405020304" pitchFamily="18" charset="0"/>
                <a:cs typeface="Times New Roman" panose="02020603050405020304" pitchFamily="18" charset="0"/>
              </a:rPr>
              <a:t>doi</a:t>
            </a:r>
            <a:r>
              <a:rPr lang="en-IN" sz="1600" dirty="0">
                <a:solidFill>
                  <a:schemeClr val="tx1"/>
                </a:solidFill>
                <a:latin typeface="Times New Roman" panose="02020603050405020304" pitchFamily="18" charset="0"/>
                <a:cs typeface="Times New Roman" panose="02020603050405020304" pitchFamily="18" charset="0"/>
              </a:rPr>
              <a:t>: 10.1002/9781119711308.ch2. </a:t>
            </a:r>
          </a:p>
          <a:p>
            <a:endParaRPr lang="en-IN" sz="1600" dirty="0"/>
          </a:p>
        </p:txBody>
      </p:sp>
      <p:sp>
        <p:nvSpPr>
          <p:cNvPr id="4" name="Footer Placeholder 3">
            <a:extLst>
              <a:ext uri="{FF2B5EF4-FFF2-40B4-BE49-F238E27FC236}">
                <a16:creationId xmlns:a16="http://schemas.microsoft.com/office/drawing/2014/main" xmlns="" id="{C20C9714-A4AB-7E74-973E-CCA44CFEF58E}"/>
              </a:ext>
            </a:extLst>
          </p:cNvPr>
          <p:cNvSpPr>
            <a:spLocks noGrp="1"/>
          </p:cNvSpPr>
          <p:nvPr>
            <p:ph type="ftr" sz="quarter" idx="11"/>
          </p:nvPr>
        </p:nvSpPr>
        <p:spPr/>
        <p:txBody>
          <a:bodyPr/>
          <a:lstStyle/>
          <a:p>
            <a:r>
              <a:rPr lang="en-IN"/>
              <a:t>Ms.Gandu Lavanya, Dept. of Computer Science Engg., Malla Reddy University</a:t>
            </a:r>
          </a:p>
        </p:txBody>
      </p:sp>
      <p:sp>
        <p:nvSpPr>
          <p:cNvPr id="5" name="Date Placeholder 4">
            <a:extLst>
              <a:ext uri="{FF2B5EF4-FFF2-40B4-BE49-F238E27FC236}">
                <a16:creationId xmlns:a16="http://schemas.microsoft.com/office/drawing/2014/main" xmlns="" id="{99134181-DB17-CA86-7370-90D56744CE30}"/>
              </a:ext>
            </a:extLst>
          </p:cNvPr>
          <p:cNvSpPr>
            <a:spLocks noGrp="1"/>
          </p:cNvSpPr>
          <p:nvPr>
            <p:ph type="dt" sz="half" idx="10"/>
          </p:nvPr>
        </p:nvSpPr>
        <p:spPr/>
        <p:txBody>
          <a:bodyPr/>
          <a:lstStyle/>
          <a:p>
            <a:fld id="{2F4C5594-2620-4386-A2C1-1DF8073897C8}" type="datetime1">
              <a:rPr lang="en-IN" smtClean="0"/>
              <a:t>20-12-2024</a:t>
            </a:fld>
            <a:endParaRPr lang="en-IN"/>
          </a:p>
        </p:txBody>
      </p:sp>
      <p:sp>
        <p:nvSpPr>
          <p:cNvPr id="6" name="Slide Number Placeholder 5">
            <a:extLst>
              <a:ext uri="{FF2B5EF4-FFF2-40B4-BE49-F238E27FC236}">
                <a16:creationId xmlns:a16="http://schemas.microsoft.com/office/drawing/2014/main" xmlns="" id="{28808833-2B65-2E23-C9A4-30D7C5786706}"/>
              </a:ext>
            </a:extLst>
          </p:cNvPr>
          <p:cNvSpPr>
            <a:spLocks noGrp="1"/>
          </p:cNvSpPr>
          <p:nvPr>
            <p:ph type="sldNum" sz="quarter" idx="12"/>
          </p:nvPr>
        </p:nvSpPr>
        <p:spPr/>
        <p:txBody>
          <a:bodyPr/>
          <a:lstStyle/>
          <a:p>
            <a:fld id="{0B712F8A-C0D1-4E37-8851-7408E5047F0E}" type="slidenum">
              <a:rPr lang="en-IN" smtClean="0"/>
              <a:t>18</a:t>
            </a:fld>
            <a:endParaRPr lang="en-IN"/>
          </a:p>
        </p:txBody>
      </p:sp>
    </p:spTree>
    <p:extLst>
      <p:ext uri="{BB962C8B-B14F-4D97-AF65-F5344CB8AC3E}">
        <p14:creationId xmlns:p14="http://schemas.microsoft.com/office/powerpoint/2010/main" val="301894010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ensemble compatible throid cancer 294</Template>
  <TotalTime>206</TotalTime>
  <Words>1283</Words>
  <Application>Microsoft Office PowerPoint</Application>
  <PresentationFormat>Widescreen</PresentationFormat>
  <Paragraphs>128</Paragraphs>
  <Slides>18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Cambria</vt:lpstr>
      <vt:lpstr>Century Gothic</vt:lpstr>
      <vt:lpstr>Times New Roman</vt:lpstr>
      <vt:lpstr>Wingdings</vt:lpstr>
      <vt:lpstr>Wingdings 3</vt:lpstr>
      <vt:lpstr>Ion Boardroom</vt:lpstr>
      <vt:lpstr>4th International Conference on  INTELLIGENT SYSTEMS &amp; SUSTAINABLE COMPUTING  (ICISSC -2024)  20th-21st December 2024  Paper ID: 130</vt:lpstr>
      <vt:lpstr>1. ABSTRACT</vt:lpstr>
      <vt:lpstr>2. Introduction </vt:lpstr>
      <vt:lpstr>Continued… </vt:lpstr>
      <vt:lpstr>Continued… </vt:lpstr>
      <vt:lpstr>3. Literature review </vt:lpstr>
      <vt:lpstr>Continued…</vt:lpstr>
      <vt:lpstr>4. Methodology </vt:lpstr>
      <vt:lpstr>Continued…</vt:lpstr>
      <vt:lpstr>Continued…</vt:lpstr>
      <vt:lpstr>Datasets Description </vt:lpstr>
      <vt:lpstr>Results and Discussion </vt:lpstr>
      <vt:lpstr>Continued…</vt:lpstr>
      <vt:lpstr>Continued…</vt:lpstr>
      <vt:lpstr>Continued…</vt:lpstr>
      <vt:lpstr>Continued…</vt:lpstr>
      <vt:lpstr>Conclusion </vt:lpstr>
      <vt:lpstr> References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4th International Conference on INTELLIGENT SYSTEMS &amp; SUSTAINABLE COMPUTING  (ICISSC -2024)  20th-21st December 2024  Paper ID: 128</dc:title>
  <dc:creator>mruh</dc:creator>
  <cp:lastModifiedBy>mruh</cp:lastModifiedBy>
  <cp:revision>48</cp:revision>
  <dcterms:created xsi:type="dcterms:W3CDTF">2024-12-19T07:32:43Z</dcterms:created>
  <dcterms:modified xsi:type="dcterms:W3CDTF">2024-12-20T03:50:29Z</dcterms:modified>
</cp:coreProperties>
</file>