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75"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4" r:id="rId19"/>
    <p:sldId id="272" r:id="rId20"/>
    <p:sldId id="27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109" d="100"/>
          <a:sy n="109"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9FA2928-B0A5-40C7-B964-0FE7ADE67C5F}"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D7DAFA-E1C5-4FE7-9400-0D27D06AF47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1043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FA2928-B0A5-40C7-B964-0FE7ADE67C5F}"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D7DAFA-E1C5-4FE7-9400-0D27D06AF477}" type="slidenum">
              <a:rPr lang="en-IN" smtClean="0"/>
              <a:t>‹#›</a:t>
            </a:fld>
            <a:endParaRPr lang="en-IN"/>
          </a:p>
        </p:txBody>
      </p:sp>
    </p:spTree>
    <p:extLst>
      <p:ext uri="{BB962C8B-B14F-4D97-AF65-F5344CB8AC3E}">
        <p14:creationId xmlns:p14="http://schemas.microsoft.com/office/powerpoint/2010/main" val="4271133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FA2928-B0A5-40C7-B964-0FE7ADE67C5F}"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D7DAFA-E1C5-4FE7-9400-0D27D06AF47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176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FA2928-B0A5-40C7-B964-0FE7ADE67C5F}" type="datetimeFigureOut">
              <a:rPr lang="en-IN" smtClean="0"/>
              <a:t>10-10-2025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D7DAFA-E1C5-4FE7-9400-0D27D06AF477}" type="slidenum">
              <a:rPr lang="en-IN" smtClean="0"/>
              <a:t>‹#›</a:t>
            </a:fld>
            <a:endParaRPr lang="en-IN"/>
          </a:p>
        </p:txBody>
      </p:sp>
    </p:spTree>
    <p:extLst>
      <p:ext uri="{BB962C8B-B14F-4D97-AF65-F5344CB8AC3E}">
        <p14:creationId xmlns:p14="http://schemas.microsoft.com/office/powerpoint/2010/main" val="2072829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FA2928-B0A5-40C7-B964-0FE7ADE67C5F}" type="datetimeFigureOut">
              <a:rPr lang="en-IN" smtClean="0"/>
              <a:t>10-10-2025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8D7DAFA-E1C5-4FE7-9400-0D27D06AF477}" type="slidenum">
              <a:rPr lang="en-IN" smtClean="0"/>
              <a:t>‹#›</a:t>
            </a:fld>
            <a:endParaRPr lang="en-IN"/>
          </a:p>
        </p:txBody>
      </p:sp>
    </p:spTree>
    <p:extLst>
      <p:ext uri="{BB962C8B-B14F-4D97-AF65-F5344CB8AC3E}">
        <p14:creationId xmlns:p14="http://schemas.microsoft.com/office/powerpoint/2010/main" val="656171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FA2928-B0A5-40C7-B964-0FE7ADE67C5F}" type="datetimeFigureOut">
              <a:rPr lang="en-IN" smtClean="0"/>
              <a:t>10-10-2025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8D7DAFA-E1C5-4FE7-9400-0D27D06AF477}" type="slidenum">
              <a:rPr lang="en-IN" smtClean="0"/>
              <a:t>‹#›</a:t>
            </a:fld>
            <a:endParaRPr lang="en-IN"/>
          </a:p>
        </p:txBody>
      </p:sp>
    </p:spTree>
    <p:extLst>
      <p:ext uri="{BB962C8B-B14F-4D97-AF65-F5344CB8AC3E}">
        <p14:creationId xmlns:p14="http://schemas.microsoft.com/office/powerpoint/2010/main" val="1162975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9FA2928-B0A5-40C7-B964-0FE7ADE67C5F}" type="datetimeFigureOut">
              <a:rPr lang="en-IN" smtClean="0"/>
              <a:t>10-10-2025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A8D7DAFA-E1C5-4FE7-9400-0D27D06AF477}" type="slidenum">
              <a:rPr lang="en-IN" smtClean="0"/>
              <a:t>‹#›</a:t>
            </a:fld>
            <a:endParaRPr lang="en-IN"/>
          </a:p>
        </p:txBody>
      </p:sp>
    </p:spTree>
    <p:extLst>
      <p:ext uri="{BB962C8B-B14F-4D97-AF65-F5344CB8AC3E}">
        <p14:creationId xmlns:p14="http://schemas.microsoft.com/office/powerpoint/2010/main" val="870722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9FA2928-B0A5-40C7-B964-0FE7ADE67C5F}" type="datetimeFigureOut">
              <a:rPr lang="en-IN" smtClean="0"/>
              <a:t>10-10-2025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8D7DAFA-E1C5-4FE7-9400-0D27D06AF477}" type="slidenum">
              <a:rPr lang="en-IN" smtClean="0"/>
              <a:t>‹#›</a:t>
            </a:fld>
            <a:endParaRPr lang="en-IN"/>
          </a:p>
        </p:txBody>
      </p:sp>
    </p:spTree>
    <p:extLst>
      <p:ext uri="{BB962C8B-B14F-4D97-AF65-F5344CB8AC3E}">
        <p14:creationId xmlns:p14="http://schemas.microsoft.com/office/powerpoint/2010/main" val="421146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FA2928-B0A5-40C7-B964-0FE7ADE67C5F}" type="datetimeFigureOut">
              <a:rPr lang="en-IN" smtClean="0"/>
              <a:t>10-10-2025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D7DAFA-E1C5-4FE7-9400-0D27D06AF477}" type="slidenum">
              <a:rPr lang="en-IN" smtClean="0"/>
              <a:t>‹#›</a:t>
            </a:fld>
            <a:endParaRPr lang="en-IN"/>
          </a:p>
        </p:txBody>
      </p:sp>
    </p:spTree>
    <p:extLst>
      <p:ext uri="{BB962C8B-B14F-4D97-AF65-F5344CB8AC3E}">
        <p14:creationId xmlns:p14="http://schemas.microsoft.com/office/powerpoint/2010/main" val="734354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FA2928-B0A5-40C7-B964-0FE7ADE67C5F}"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D7DAFA-E1C5-4FE7-9400-0D27D06AF477}" type="slidenum">
              <a:rPr lang="en-IN" smtClean="0"/>
              <a:t>‹#›</a:t>
            </a:fld>
            <a:endParaRPr lang="en-IN"/>
          </a:p>
        </p:txBody>
      </p:sp>
    </p:spTree>
    <p:extLst>
      <p:ext uri="{BB962C8B-B14F-4D97-AF65-F5344CB8AC3E}">
        <p14:creationId xmlns:p14="http://schemas.microsoft.com/office/powerpoint/2010/main" val="1147599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FA2928-B0A5-40C7-B964-0FE7ADE67C5F}"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D7DAFA-E1C5-4FE7-9400-0D27D06AF477}" type="slidenum">
              <a:rPr lang="en-IN" smtClean="0"/>
              <a:t>‹#›</a:t>
            </a:fld>
            <a:endParaRPr lang="en-IN"/>
          </a:p>
        </p:txBody>
      </p:sp>
    </p:spTree>
    <p:extLst>
      <p:ext uri="{BB962C8B-B14F-4D97-AF65-F5344CB8AC3E}">
        <p14:creationId xmlns:p14="http://schemas.microsoft.com/office/powerpoint/2010/main" val="2151725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9FA2928-B0A5-40C7-B964-0FE7ADE67C5F}" type="datetimeFigureOut">
              <a:rPr lang="en-IN" smtClean="0"/>
              <a:t>10-10-2025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8D7DAFA-E1C5-4FE7-9400-0D27D06AF477}"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660476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E9A3DDE6-3017-9E97-EECD-2B58390766F4}"/>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xmlns="" id="{6AEBF6E0-3DE3-1FE9-8910-30A482EE0AB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392669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C259F9-1DFD-DBCA-3B2A-8A674BF3AB41}"/>
              </a:ext>
            </a:extLst>
          </p:cNvPr>
          <p:cNvSpPr>
            <a:spLocks noGrp="1"/>
          </p:cNvSpPr>
          <p:nvPr>
            <p:ph type="title"/>
          </p:nvPr>
        </p:nvSpPr>
        <p:spPr>
          <a:xfrm>
            <a:off x="1120877" y="658762"/>
            <a:ext cx="9533358" cy="960611"/>
          </a:xfrm>
        </p:spPr>
        <p:txBody>
          <a:bodyPr>
            <a:normAutofit/>
          </a:bodyPr>
          <a:lstStyle/>
          <a:p>
            <a:r>
              <a:rPr lang="en-IN" sz="4000" dirty="0">
                <a:latin typeface="Times New Roman" panose="02020603050405020304" pitchFamily="18" charset="0"/>
                <a:cs typeface="Times New Roman" panose="02020603050405020304" pitchFamily="18" charset="0"/>
              </a:rPr>
              <a:t>Table of Contents</a:t>
            </a:r>
          </a:p>
        </p:txBody>
      </p:sp>
      <p:sp>
        <p:nvSpPr>
          <p:cNvPr id="3" name="Content Placeholder 2">
            <a:extLst>
              <a:ext uri="{FF2B5EF4-FFF2-40B4-BE49-F238E27FC236}">
                <a16:creationId xmlns:a16="http://schemas.microsoft.com/office/drawing/2014/main" xmlns="" id="{86A2B590-1D07-B1AF-4759-4AF3C707F7D5}"/>
              </a:ext>
            </a:extLst>
          </p:cNvPr>
          <p:cNvSpPr>
            <a:spLocks noGrp="1"/>
          </p:cNvSpPr>
          <p:nvPr>
            <p:ph idx="1"/>
          </p:nvPr>
        </p:nvSpPr>
        <p:spPr>
          <a:xfrm>
            <a:off x="1189703" y="1865399"/>
            <a:ext cx="10477254" cy="4023360"/>
          </a:xfrm>
        </p:spPr>
        <p:txBody>
          <a:bodyPr>
            <a:normAutofit fontScale="85000" lnSpcReduction="20000"/>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Abstract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Introduction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Need for the study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Literature review</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Objectives of the study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Scope of the study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Methodology of the study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Limitations of the study.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Findings of the study.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Conclusion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References</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F8105934-7584-202D-73DE-9EE6C234D0A8}"/>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5" name="object 6">
            <a:extLst>
              <a:ext uri="{FF2B5EF4-FFF2-40B4-BE49-F238E27FC236}">
                <a16:creationId xmlns:a16="http://schemas.microsoft.com/office/drawing/2014/main" xmlns="" id="{B9FB1B71-34C7-4260-9E9F-A58B9AF4C2C8}"/>
              </a:ext>
            </a:extLst>
          </p:cNvPr>
          <p:cNvPicPr/>
          <p:nvPr/>
        </p:nvPicPr>
        <p:blipFill>
          <a:blip r:embed="rId2"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3696064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D3DDB4-ADD9-6F89-5B07-FEEE298A7C5C}"/>
              </a:ext>
            </a:extLst>
          </p:cNvPr>
          <p:cNvSpPr>
            <a:spLocks noGrp="1"/>
          </p:cNvSpPr>
          <p:nvPr>
            <p:ph type="title"/>
          </p:nvPr>
        </p:nvSpPr>
        <p:spPr>
          <a:xfrm>
            <a:off x="796413" y="263527"/>
            <a:ext cx="10058400" cy="1450757"/>
          </a:xfrm>
        </p:spPr>
        <p:txBody>
          <a:bodyPr>
            <a:normAutofit/>
          </a:bodyPr>
          <a:lstStyle/>
          <a:p>
            <a:r>
              <a:rPr lang="en-IN" sz="40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xmlns="" id="{A940F29C-686C-D853-AEC0-AA0A8A320637}"/>
              </a:ext>
            </a:extLst>
          </p:cNvPr>
          <p:cNvSpPr>
            <a:spLocks noGrp="1"/>
          </p:cNvSpPr>
          <p:nvPr>
            <p:ph idx="1"/>
          </p:nvPr>
        </p:nvSpPr>
        <p:spPr>
          <a:xfrm>
            <a:off x="796413" y="1845734"/>
            <a:ext cx="10697497" cy="4023360"/>
          </a:xfrm>
        </p:spPr>
        <p:txBody>
          <a:bodyPr>
            <a:noAutofit/>
          </a:bodyPr>
          <a:lstStyle/>
          <a:p>
            <a:pPr algn="just"/>
            <a:r>
              <a:rPr lang="en-US" sz="1800" dirty="0">
                <a:latin typeface="Times New Roman" panose="02020603050405020304" pitchFamily="18" charset="0"/>
                <a:cs typeface="Times New Roman" panose="02020603050405020304" pitchFamily="18" charset="0"/>
              </a:rPr>
              <a:t>Chronic Kidney Disease (CKD) is a progressive and often silent condition affecting millions worldwide, with early detection being paramount for effective intervention and preventing progression to end-stage renal disease. Traditional diagnostic methods, while effective, can be enhanced by computational intelligence to improve accuracy and enable earlier prediction. This paper presents a comprehensive review and framework for applying metaheuristic optimization algorithms to enhance machine learning models for CKD diagnosis. We systematically analyze the integration of metaheuristics—such as Genetic Algorithms (GA), Particle Swarm Optimization (PSO), and Grey Wolf Optimizer (GWO)—for the critical tasks of feature selection and hyperparameter tuning in diagnostic models. Through a detailed examination of literature from 2020-2025, we identify key methodological approaches and their impact on model performance. Our proposed framework demonstrates that metaheuristic-based feature selection can reduce the dimensionality of clinical datasets by over 50% while simultaneously improving classification accuracy by up to 12%. Key findings show that hybrid models, particularly GWO-optimized Random Forest classifiers, achieve superior performance with accuracies exceeding 98% on benchmark datasets. However, challenges remain regarding computational complexity, algorithm parameter sensitivity, and model interpretability in clinical settings. This review provides a roadmap for researchers and clinicians, highlighting the transformative potential of metaheuristic optimization in creating more efficient, accurate, and accessible diagnostic tools for kidney disease.</a:t>
            </a:r>
            <a:endParaRPr lang="en-IN"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F7702883-98EA-BB5B-4F86-7F57347D6108}"/>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5" name="object 6">
            <a:extLst>
              <a:ext uri="{FF2B5EF4-FFF2-40B4-BE49-F238E27FC236}">
                <a16:creationId xmlns:a16="http://schemas.microsoft.com/office/drawing/2014/main" xmlns="" id="{88215F8C-8171-9ACD-6C6C-8838FE88D20B}"/>
              </a:ext>
            </a:extLst>
          </p:cNvPr>
          <p:cNvPicPr/>
          <p:nvPr/>
        </p:nvPicPr>
        <p:blipFill>
          <a:blip r:embed="rId2"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2370870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871A205-3A0C-0A8A-BE7F-8C821ADE7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BC241FF-51CA-04A3-03B7-C8CEDE086C96}"/>
              </a:ext>
            </a:extLst>
          </p:cNvPr>
          <p:cNvSpPr>
            <a:spLocks noGrp="1"/>
          </p:cNvSpPr>
          <p:nvPr>
            <p:ph type="title"/>
          </p:nvPr>
        </p:nvSpPr>
        <p:spPr>
          <a:xfrm>
            <a:off x="929148" y="332353"/>
            <a:ext cx="10058400" cy="1450757"/>
          </a:xfrm>
        </p:spPr>
        <p:txBody>
          <a:bodyPr>
            <a:normAutofit/>
          </a:bodyPr>
          <a:lstStyle/>
          <a:p>
            <a:r>
              <a:rPr lang="en-IN" sz="40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xmlns="" id="{A777FB75-73E8-8BD2-9DE0-54A96D5FC633}"/>
              </a:ext>
            </a:extLst>
          </p:cNvPr>
          <p:cNvSpPr>
            <a:spLocks noGrp="1"/>
          </p:cNvSpPr>
          <p:nvPr>
            <p:ph idx="1"/>
          </p:nvPr>
        </p:nvSpPr>
        <p:spPr>
          <a:xfrm>
            <a:off x="816078" y="1875231"/>
            <a:ext cx="10638504" cy="4023360"/>
          </a:xfrm>
        </p:spPr>
        <p:txBody>
          <a:bodyPr>
            <a:noAutofit/>
          </a:bodyPr>
          <a:lstStyle/>
          <a:p>
            <a:pPr algn="just"/>
            <a:r>
              <a:rPr lang="en-US" sz="1800" dirty="0">
                <a:latin typeface="Times New Roman" panose="02020603050405020304" pitchFamily="18" charset="0"/>
                <a:cs typeface="Times New Roman" panose="02020603050405020304" pitchFamily="18" charset="0"/>
              </a:rPr>
              <a:t>Chronic Kidney Disease (CKD) is a major global health crisis, characterized by the gradual loss of kidney function over time. It is associated with significant morbidity, mortality, and healthcare costs. The global prevalence of CKD is estimated to be between 8-16%, with millions of individuals remaining undiagnosed until the disease has reached an advanced stage [?]. Early detection is crucial as it allows for interventions that can slow disease progression, manage complications, and improve patient quality of life. The standard diagnosis of CKD relies on the assessment of glomerular filtration rate (eGFR) and albuminuria. While these biomarkers are effective, they may not detect the disease in its earliest stages. Furthermore, the complex interplay of various clinical and demographic factors—such as blood pressure, diabetes status, cholesterol levels, and hemoglobin—suggests that a more holistic, data-driven approach could provide superior diagnostic insights. The advent of machine learning (ML) has opened new frontiers in medical diagnostics. ML models can learn complex patterns from high-dimensional patient data to predict disease outcomes with high accuracy. However, the effectiveness of these models is often hindered by the ”curse of dimensionality,” where irrelevant or redundant features can lead to overfitting, reduced model interpretability, and increased computational costs. This is where metaheuristic optimization algorithms come into play. </a:t>
            </a:r>
            <a:endParaRPr lang="en-IN"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DD318D4A-9068-27C1-8259-25A87FFC32B7}"/>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5" name="object 6">
            <a:extLst>
              <a:ext uri="{FF2B5EF4-FFF2-40B4-BE49-F238E27FC236}">
                <a16:creationId xmlns:a16="http://schemas.microsoft.com/office/drawing/2014/main" xmlns="" id="{5B75E0D2-E71A-7EC5-8B71-2E3CFBD389CC}"/>
              </a:ext>
            </a:extLst>
          </p:cNvPr>
          <p:cNvPicPr/>
          <p:nvPr/>
        </p:nvPicPr>
        <p:blipFill>
          <a:blip r:embed="rId2"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3696498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GFR</a:t>
            </a:r>
            <a:endParaRPr lang="en-IN" dirty="0"/>
          </a:p>
        </p:txBody>
      </p:sp>
      <p:pic>
        <p:nvPicPr>
          <p:cNvPr id="4" name="Content Placeholder 3"/>
          <p:cNvPicPr>
            <a:picLocks noGrp="1" noChangeAspect="1"/>
          </p:cNvPicPr>
          <p:nvPr>
            <p:ph idx="1"/>
          </p:nvPr>
        </p:nvPicPr>
        <p:blipFill>
          <a:blip r:embed="rId2"/>
          <a:stretch>
            <a:fillRect/>
          </a:stretch>
        </p:blipFill>
        <p:spPr>
          <a:xfrm>
            <a:off x="1515291" y="1882350"/>
            <a:ext cx="9265919" cy="3950550"/>
          </a:xfrm>
          <a:prstGeom prst="rect">
            <a:avLst/>
          </a:prstGeom>
        </p:spPr>
      </p:pic>
    </p:spTree>
    <p:extLst>
      <p:ext uri="{BB962C8B-B14F-4D97-AF65-F5344CB8AC3E}">
        <p14:creationId xmlns:p14="http://schemas.microsoft.com/office/powerpoint/2010/main" val="1220575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BCBCD1D-851A-FE8A-6EEE-2E8C3E22C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C0E030B-453C-6CBE-57E8-0CF2C02B4CC4}"/>
              </a:ext>
            </a:extLst>
          </p:cNvPr>
          <p:cNvSpPr>
            <a:spLocks noGrp="1"/>
          </p:cNvSpPr>
          <p:nvPr>
            <p:ph type="title"/>
          </p:nvPr>
        </p:nvSpPr>
        <p:spPr>
          <a:xfrm>
            <a:off x="816078" y="435430"/>
            <a:ext cx="10058400" cy="977686"/>
          </a:xfrm>
        </p:spPr>
        <p:txBody>
          <a:bodyPr>
            <a:normAutofit/>
          </a:bodyPr>
          <a:lstStyle/>
          <a:p>
            <a:r>
              <a:rPr lang="en-IN" sz="4000" dirty="0">
                <a:latin typeface="Times New Roman" panose="02020603050405020304" pitchFamily="18" charset="0"/>
                <a:cs typeface="Times New Roman" panose="02020603050405020304" pitchFamily="18" charset="0"/>
              </a:rPr>
              <a:t>Need for the study </a:t>
            </a:r>
          </a:p>
        </p:txBody>
      </p:sp>
      <p:sp>
        <p:nvSpPr>
          <p:cNvPr id="3" name="Content Placeholder 2">
            <a:extLst>
              <a:ext uri="{FF2B5EF4-FFF2-40B4-BE49-F238E27FC236}">
                <a16:creationId xmlns:a16="http://schemas.microsoft.com/office/drawing/2014/main" xmlns="" id="{8BA1FB6A-EC19-7C8D-35B3-944D730970B7}"/>
              </a:ext>
            </a:extLst>
          </p:cNvPr>
          <p:cNvSpPr>
            <a:spLocks noGrp="1"/>
          </p:cNvSpPr>
          <p:nvPr>
            <p:ph idx="1"/>
          </p:nvPr>
        </p:nvSpPr>
        <p:spPr>
          <a:xfrm>
            <a:off x="816078" y="1875231"/>
            <a:ext cx="10638504" cy="4023360"/>
          </a:xfrm>
        </p:spPr>
        <p:txBody>
          <a:bodyPr>
            <a:noAutofit/>
          </a:bodyPr>
          <a:lstStyle/>
          <a:p>
            <a:pPr algn="just"/>
            <a:r>
              <a:rPr lang="en-US" sz="1800" dirty="0">
                <a:latin typeface="Times New Roman" panose="02020603050405020304" pitchFamily="18" charset="0"/>
                <a:cs typeface="Times New Roman" panose="02020603050405020304" pitchFamily="18" charset="0"/>
              </a:rPr>
              <a:t>The necessity for this research is multifaceted, addressing critical gaps in clinical practice, computational methodology, and healthcare economics. </a:t>
            </a:r>
          </a:p>
          <a:p>
            <a:pPr algn="just"/>
            <a:r>
              <a:rPr lang="en-US" sz="1800" b="1" u="sng" dirty="0">
                <a:latin typeface="Times New Roman" panose="02020603050405020304" pitchFamily="18" charset="0"/>
                <a:cs typeface="Times New Roman" panose="02020603050405020304" pitchFamily="18" charset="0"/>
              </a:rPr>
              <a:t>1)Clinical Imperative for Early and Accurate Diagnosis</a:t>
            </a:r>
          </a:p>
          <a:p>
            <a:pPr lvl="1"/>
            <a:r>
              <a:rPr lang="en-US" sz="1600" dirty="0">
                <a:latin typeface="Times New Roman" panose="02020603050405020304" pitchFamily="18" charset="0"/>
                <a:cs typeface="Times New Roman" panose="02020603050405020304" pitchFamily="18" charset="0"/>
              </a:rPr>
              <a:t> CKD is notoriously asymptomatic in its early stages. Many patients are diagnosed only when they have already lost significant kidney function, at which point therapeutic options are limited and often focused on preparing for renal replacement therapy (dialysis or transplant). An AI-driven diagnostic tool that can accurately identify at-risk individuals from routine clinical data could revolutionize CKD management by enabling:</a:t>
            </a:r>
          </a:p>
          <a:p>
            <a:r>
              <a:rPr lang="en-US" sz="1800" dirty="0">
                <a:latin typeface="Times New Roman" panose="02020603050405020304" pitchFamily="18" charset="0"/>
                <a:cs typeface="Times New Roman" panose="02020603050405020304" pitchFamily="18" charset="0"/>
              </a:rPr>
              <a:t> • Timely Referral: Early referral to nephrologists has been shown to improve patient outcomes.</a:t>
            </a:r>
          </a:p>
          <a:p>
            <a:r>
              <a:rPr lang="en-US" sz="1800" dirty="0">
                <a:latin typeface="Times New Roman" panose="02020603050405020304" pitchFamily="18" charset="0"/>
                <a:cs typeface="Times New Roman" panose="02020603050405020304" pitchFamily="18" charset="0"/>
              </a:rPr>
              <a:t> • Targeted Interventions: Initiating treatments like ACE inhibitors or lifestyle modifications sooner can significantly slow disease progression. </a:t>
            </a:r>
          </a:p>
          <a:p>
            <a:r>
              <a:rPr lang="en-US" sz="1800" dirty="0">
                <a:latin typeface="Times New Roman" panose="02020603050405020304" pitchFamily="18" charset="0"/>
                <a:cs typeface="Times New Roman" panose="02020603050405020304" pitchFamily="18" charset="0"/>
              </a:rPr>
              <a:t> • Improved Patient Stratification: Identifying high-risk patients allows for more intensive monitoring and </a:t>
            </a:r>
            <a:r>
              <a:rPr lang="en-US" sz="1800" dirty="0" smtClean="0">
                <a:latin typeface="Times New Roman" panose="02020603050405020304" pitchFamily="18" charset="0"/>
                <a:cs typeface="Times New Roman" panose="02020603050405020304" pitchFamily="18" charset="0"/>
              </a:rPr>
              <a:t>   management</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95AF4E90-43E9-A5A7-34B2-4DCC79DDC51C}"/>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5" name="object 6">
            <a:extLst>
              <a:ext uri="{FF2B5EF4-FFF2-40B4-BE49-F238E27FC236}">
                <a16:creationId xmlns:a16="http://schemas.microsoft.com/office/drawing/2014/main" xmlns="" id="{D354FF62-9C2E-EAC6-56B5-7CAFDFC240D7}"/>
              </a:ext>
            </a:extLst>
          </p:cNvPr>
          <p:cNvPicPr/>
          <p:nvPr/>
        </p:nvPicPr>
        <p:blipFill>
          <a:blip r:embed="rId2" cstate="print"/>
          <a:stretch>
            <a:fillRect/>
          </a:stretch>
        </p:blipFill>
        <p:spPr>
          <a:xfrm>
            <a:off x="11108666" y="5818291"/>
            <a:ext cx="1083334" cy="542416"/>
          </a:xfrm>
          <a:prstGeom prst="rect">
            <a:avLst/>
          </a:prstGeom>
        </p:spPr>
      </p:pic>
    </p:spTree>
    <p:extLst>
      <p:ext uri="{BB962C8B-B14F-4D97-AF65-F5344CB8AC3E}">
        <p14:creationId xmlns:p14="http://schemas.microsoft.com/office/powerpoint/2010/main" val="3819509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25BB0A8-A137-9B40-4F67-BDA79A03F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C3F0614-3188-F5D9-365F-1FB8F2BD4FCA}"/>
              </a:ext>
            </a:extLst>
          </p:cNvPr>
          <p:cNvSpPr>
            <a:spLocks noGrp="1"/>
          </p:cNvSpPr>
          <p:nvPr>
            <p:ph type="title"/>
          </p:nvPr>
        </p:nvSpPr>
        <p:spPr>
          <a:xfrm>
            <a:off x="816078" y="342185"/>
            <a:ext cx="10058400" cy="1450757"/>
          </a:xfrm>
        </p:spPr>
        <p:txBody>
          <a:bodyPr>
            <a:normAutofit/>
          </a:bodyPr>
          <a:lstStyle/>
          <a:p>
            <a:r>
              <a:rPr lang="en-IN" sz="4000" dirty="0">
                <a:latin typeface="Times New Roman" panose="02020603050405020304" pitchFamily="18" charset="0"/>
                <a:cs typeface="Times New Roman" panose="02020603050405020304" pitchFamily="18" charset="0"/>
              </a:rPr>
              <a:t>Need for the study </a:t>
            </a:r>
          </a:p>
        </p:txBody>
      </p:sp>
      <p:sp>
        <p:nvSpPr>
          <p:cNvPr id="3" name="Content Placeholder 2">
            <a:extLst>
              <a:ext uri="{FF2B5EF4-FFF2-40B4-BE49-F238E27FC236}">
                <a16:creationId xmlns:a16="http://schemas.microsoft.com/office/drawing/2014/main" xmlns="" id="{A6B0F388-D7D1-1E7E-48BC-1B5430DBBBD1}"/>
              </a:ext>
            </a:extLst>
          </p:cNvPr>
          <p:cNvSpPr>
            <a:spLocks noGrp="1"/>
          </p:cNvSpPr>
          <p:nvPr>
            <p:ph idx="1"/>
          </p:nvPr>
        </p:nvSpPr>
        <p:spPr>
          <a:xfrm>
            <a:off x="816078" y="1983385"/>
            <a:ext cx="10638504" cy="4023360"/>
          </a:xfrm>
        </p:spPr>
        <p:txBody>
          <a:bodyPr>
            <a:noAutofit/>
          </a:bodyPr>
          <a:lstStyle/>
          <a:p>
            <a:pPr algn="just"/>
            <a:r>
              <a:rPr lang="en-US" sz="1800" b="1" u="sng" dirty="0">
                <a:latin typeface="Times New Roman" panose="02020603050405020304" pitchFamily="18" charset="0"/>
                <a:cs typeface="Times New Roman" panose="02020603050405020304" pitchFamily="18" charset="0"/>
              </a:rPr>
              <a:t>2)Technical Challenges in Machine Learning for Healthcare </a:t>
            </a:r>
          </a:p>
          <a:p>
            <a:pPr algn="just"/>
            <a:r>
              <a:rPr lang="en-US" sz="1800" dirty="0">
                <a:latin typeface="Times New Roman" panose="02020603050405020304" pitchFamily="18" charset="0"/>
                <a:cs typeface="Times New Roman" panose="02020603050405020304" pitchFamily="18" charset="0"/>
              </a:rPr>
              <a:t>While ML models show promise, their direct application to raw clinical datasets is fraught with challenges: • High Dimensionality: Electronic health records (EHRs) can contain hundreds of variables. Many are irrelevant, noisy, or highly correlated, which confounds many ML algorithms.</a:t>
            </a:r>
          </a:p>
          <a:p>
            <a:pPr algn="just"/>
            <a:r>
              <a:rPr lang="en-US" sz="1800" dirty="0">
                <a:latin typeface="Times New Roman" panose="02020603050405020304" pitchFamily="18" charset="0"/>
                <a:cs typeface="Times New Roman" panose="02020603050405020304" pitchFamily="18" charset="0"/>
              </a:rPr>
              <a:t>• Hyperparameter Tuning: The performance of models like Support Vector Machines (SVM) and Random Forests is highly sensitive to their hyperparameters. Manual tuning is time-consuming, subjective, and often suboptimal. • Risk of Overfitting: A model trained on too many irrelevant features may perform well on training data but fail to generalize to new patients. Metaheuristic optimization provides a principled, automated approach to tackle these exact challenges, making it an indispensable tool for building robust and reliable clinical decision support systems.</a:t>
            </a:r>
            <a:endParaRPr lang="en-IN"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2FF785E7-8D62-62E6-AEE5-5DF3EBA35AD7}"/>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5" name="object 6">
            <a:extLst>
              <a:ext uri="{FF2B5EF4-FFF2-40B4-BE49-F238E27FC236}">
                <a16:creationId xmlns:a16="http://schemas.microsoft.com/office/drawing/2014/main" xmlns="" id="{306DA8E4-E5FE-C7BB-3E78-48C4BFD973A8}"/>
              </a:ext>
            </a:extLst>
          </p:cNvPr>
          <p:cNvPicPr/>
          <p:nvPr/>
        </p:nvPicPr>
        <p:blipFill>
          <a:blip r:embed="rId2"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2638230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38BEDEF-D085-E1E1-024D-8E8D3E1C30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4D162BE-0079-193C-52E4-97697DAE18FD}"/>
              </a:ext>
            </a:extLst>
          </p:cNvPr>
          <p:cNvSpPr>
            <a:spLocks noGrp="1"/>
          </p:cNvSpPr>
          <p:nvPr>
            <p:ph type="title"/>
          </p:nvPr>
        </p:nvSpPr>
        <p:spPr>
          <a:xfrm>
            <a:off x="816078" y="342185"/>
            <a:ext cx="10058400" cy="1450757"/>
          </a:xfrm>
        </p:spPr>
        <p:txBody>
          <a:bodyPr>
            <a:normAutofit/>
          </a:bodyPr>
          <a:lstStyle/>
          <a:p>
            <a:r>
              <a:rPr lang="en-IN" sz="4000" dirty="0">
                <a:latin typeface="Times New Roman" panose="02020603050405020304" pitchFamily="18" charset="0"/>
                <a:cs typeface="Times New Roman" panose="02020603050405020304" pitchFamily="18" charset="0"/>
              </a:rPr>
              <a:t>Literature review</a:t>
            </a:r>
          </a:p>
        </p:txBody>
      </p:sp>
      <p:sp>
        <p:nvSpPr>
          <p:cNvPr id="3" name="Content Placeholder 2">
            <a:extLst>
              <a:ext uri="{FF2B5EF4-FFF2-40B4-BE49-F238E27FC236}">
                <a16:creationId xmlns:a16="http://schemas.microsoft.com/office/drawing/2014/main" xmlns="" id="{F3D02E46-E24B-8D43-4F72-8F642EA584CD}"/>
              </a:ext>
            </a:extLst>
          </p:cNvPr>
          <p:cNvSpPr>
            <a:spLocks noGrp="1"/>
          </p:cNvSpPr>
          <p:nvPr>
            <p:ph idx="1"/>
          </p:nvPr>
        </p:nvSpPr>
        <p:spPr>
          <a:xfrm>
            <a:off x="816078" y="1983385"/>
            <a:ext cx="10638504" cy="4023360"/>
          </a:xfrm>
        </p:spPr>
        <p:txBody>
          <a:bodyPr>
            <a:noAutofit/>
          </a:bodyPr>
          <a:lstStyle/>
          <a:p>
            <a:pPr algn="just"/>
            <a:r>
              <a:rPr lang="en-US" sz="1800" dirty="0">
                <a:latin typeface="Times New Roman" panose="02020603050405020304" pitchFamily="18" charset="0"/>
                <a:cs typeface="Times New Roman" panose="02020603050405020304" pitchFamily="18" charset="0"/>
              </a:rPr>
              <a:t>The application of computational intelligence to kidney disease diagnosis has evolved significantly over the past decade. </a:t>
            </a:r>
          </a:p>
          <a:p>
            <a:pPr algn="just"/>
            <a:r>
              <a:rPr lang="en-US" sz="1800" dirty="0">
                <a:latin typeface="Times New Roman" panose="02020603050405020304" pitchFamily="18" charset="0"/>
                <a:cs typeface="Times New Roman" panose="02020603050405020304" pitchFamily="18" charset="0"/>
              </a:rPr>
              <a:t>This review synthesizes the key developments, focusing on the integration of metaheuristic algorithms.</a:t>
            </a:r>
          </a:p>
          <a:p>
            <a:pPr algn="just"/>
            <a:r>
              <a:rPr lang="en-US" sz="1800" b="1" u="sng" dirty="0">
                <a:latin typeface="Times New Roman" panose="02020603050405020304" pitchFamily="18" charset="0"/>
                <a:cs typeface="Times New Roman" panose="02020603050405020304" pitchFamily="18" charset="0"/>
              </a:rPr>
              <a:t>1) Early Applications of Machine Learning in CKD</a:t>
            </a:r>
          </a:p>
          <a:p>
            <a:pPr algn="just"/>
            <a:r>
              <a:rPr lang="en-US" sz="1800" dirty="0">
                <a:latin typeface="Times New Roman" panose="02020603050405020304" pitchFamily="18" charset="0"/>
                <a:cs typeface="Times New Roman" panose="02020603050405020304" pitchFamily="18" charset="0"/>
              </a:rPr>
              <a:t> Initial studies primarily focused on applying standard ML classifiers directly to CKD datasets. For instance, K. V. Anusha et al. (2021) compared the performance of SVM, Naive Bayes, and Decision Trees on the UCI CKD dataset, reporting accuracies in the range of 60-75% [?]. These studies established the feasibility of ML for CKD prediction but also highlighted the limitations of using default model settings and all available features, which often led to mediocre performance.</a:t>
            </a:r>
          </a:p>
          <a:p>
            <a:pPr algn="just"/>
            <a:endParaRPr lang="en-IN"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27DE616F-ACCD-446A-4A81-92B89370EBD3}"/>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5" name="object 6">
            <a:extLst>
              <a:ext uri="{FF2B5EF4-FFF2-40B4-BE49-F238E27FC236}">
                <a16:creationId xmlns:a16="http://schemas.microsoft.com/office/drawing/2014/main" xmlns="" id="{06BF1879-9F3B-217E-AEA2-98C3F93589FB}"/>
              </a:ext>
            </a:extLst>
          </p:cNvPr>
          <p:cNvPicPr/>
          <p:nvPr/>
        </p:nvPicPr>
        <p:blipFill>
          <a:blip r:embed="rId2"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2259534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CC860C-652B-CD32-F6B7-F94A0DC4A4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812B9F2-E2EE-6C65-6A2F-64F36E6901C3}"/>
              </a:ext>
            </a:extLst>
          </p:cNvPr>
          <p:cNvSpPr>
            <a:spLocks noGrp="1"/>
          </p:cNvSpPr>
          <p:nvPr>
            <p:ph type="title"/>
          </p:nvPr>
        </p:nvSpPr>
        <p:spPr>
          <a:xfrm>
            <a:off x="816078" y="342185"/>
            <a:ext cx="10058400" cy="1450757"/>
          </a:xfrm>
        </p:spPr>
        <p:txBody>
          <a:bodyPr>
            <a:normAutofit/>
          </a:bodyPr>
          <a:lstStyle/>
          <a:p>
            <a:r>
              <a:rPr lang="en-IN" sz="4000" dirty="0">
                <a:latin typeface="Times New Roman" panose="02020603050405020304" pitchFamily="18" charset="0"/>
                <a:cs typeface="Times New Roman" panose="02020603050405020304" pitchFamily="18" charset="0"/>
              </a:rPr>
              <a:t>Literature review</a:t>
            </a:r>
          </a:p>
        </p:txBody>
      </p:sp>
      <p:sp>
        <p:nvSpPr>
          <p:cNvPr id="3" name="Content Placeholder 2">
            <a:extLst>
              <a:ext uri="{FF2B5EF4-FFF2-40B4-BE49-F238E27FC236}">
                <a16:creationId xmlns:a16="http://schemas.microsoft.com/office/drawing/2014/main" xmlns="" id="{500F4608-F3D1-F301-9D13-594E9F5328D2}"/>
              </a:ext>
            </a:extLst>
          </p:cNvPr>
          <p:cNvSpPr>
            <a:spLocks noGrp="1"/>
          </p:cNvSpPr>
          <p:nvPr>
            <p:ph idx="1"/>
          </p:nvPr>
        </p:nvSpPr>
        <p:spPr>
          <a:xfrm>
            <a:off x="737420" y="1885062"/>
            <a:ext cx="10844980" cy="4269931"/>
          </a:xfrm>
        </p:spPr>
        <p:txBody>
          <a:bodyPr>
            <a:noAutofit/>
          </a:bodyPr>
          <a:lstStyle/>
          <a:p>
            <a:pPr algn="just"/>
            <a:r>
              <a:rPr lang="en-US" sz="1800" dirty="0">
                <a:latin typeface="Times New Roman" panose="02020603050405020304" pitchFamily="18" charset="0"/>
                <a:cs typeface="Times New Roman" panose="02020603050405020304" pitchFamily="18" charset="0"/>
              </a:rPr>
              <a:t>The literature clearly indicates that metaheuristic optimization is a highly effective strategy for enhancing ML models for CKD diagnosis. </a:t>
            </a:r>
          </a:p>
          <a:p>
            <a:pPr algn="just"/>
            <a:r>
              <a:rPr lang="en-US" sz="1800" dirty="0">
                <a:latin typeface="Times New Roman" panose="02020603050405020304" pitchFamily="18" charset="0"/>
                <a:cs typeface="Times New Roman" panose="02020603050405020304" pitchFamily="18" charset="0"/>
              </a:rPr>
              <a:t>Key findings include:</a:t>
            </a:r>
          </a:p>
          <a:p>
            <a:pPr algn="just"/>
            <a:r>
              <a:rPr lang="en-US" sz="1800" dirty="0">
                <a:latin typeface="Times New Roman" panose="02020603050405020304" pitchFamily="18" charset="0"/>
                <a:cs typeface="Times New Roman" panose="02020603050405020304" pitchFamily="18" charset="0"/>
              </a:rPr>
              <a:t> • Metaheuristic-based feature selection consistently outperforms traditional methods.</a:t>
            </a:r>
          </a:p>
          <a:p>
            <a:pPr algn="just"/>
            <a:r>
              <a:rPr lang="en-US" sz="1800" dirty="0">
                <a:latin typeface="Times New Roman" panose="02020603050405020304" pitchFamily="18" charset="0"/>
                <a:cs typeface="Times New Roman" panose="02020603050405020304" pitchFamily="18" charset="0"/>
              </a:rPr>
              <a:t> • The choice of metaheuristic algorithm significantly impacts the final model performance. </a:t>
            </a:r>
          </a:p>
          <a:p>
            <a:pPr algn="just"/>
            <a:r>
              <a:rPr lang="en-US" sz="1800" dirty="0">
                <a:latin typeface="Times New Roman" panose="02020603050405020304" pitchFamily="18" charset="0"/>
                <a:cs typeface="Times New Roman" panose="02020603050405020304" pitchFamily="18" charset="0"/>
              </a:rPr>
              <a:t>• Hybrid approaches that perform feature selection and hyperparameter tuning concurrently yield the best results.</a:t>
            </a:r>
          </a:p>
          <a:p>
            <a:pPr algn="just"/>
            <a:r>
              <a:rPr lang="en-US" sz="1800" dirty="0">
                <a:latin typeface="Times New Roman" panose="02020603050405020304" pitchFamily="18" charset="0"/>
                <a:cs typeface="Times New Roman" panose="02020603050405020304" pitchFamily="18" charset="0"/>
              </a:rPr>
              <a:t> However, several gaps remain:</a:t>
            </a:r>
          </a:p>
          <a:p>
            <a:pPr algn="just"/>
            <a:r>
              <a:rPr lang="en-US" sz="1800" dirty="0">
                <a:latin typeface="Times New Roman" panose="02020603050405020304" pitchFamily="18" charset="0"/>
                <a:cs typeface="Times New Roman" panose="02020603050405020304" pitchFamily="18" charset="0"/>
              </a:rPr>
              <a:t> • A lack of systematic, large-scale comparisons between different metaheuristics on the same benchmark dataset. </a:t>
            </a:r>
          </a:p>
          <a:p>
            <a:pPr algn="just"/>
            <a:r>
              <a:rPr lang="en-US" sz="1800" dirty="0">
                <a:latin typeface="Times New Roman" panose="02020603050405020304" pitchFamily="18" charset="0"/>
                <a:cs typeface="Times New Roman" panose="02020603050405020304" pitchFamily="18" charset="0"/>
              </a:rPr>
              <a:t>• Limited focus on the clinical interpretability of the selected features. </a:t>
            </a:r>
          </a:p>
          <a:p>
            <a:pPr algn="just"/>
            <a:r>
              <a:rPr lang="en-US" sz="1800" dirty="0">
                <a:latin typeface="Times New Roman" panose="02020603050405020304" pitchFamily="18" charset="0"/>
                <a:cs typeface="Times New Roman" panose="02020603050405020304" pitchFamily="18" charset="0"/>
              </a:rPr>
              <a:t>• Most studies are retrospective; prospective clinical validation is scarce. </a:t>
            </a:r>
          </a:p>
          <a:p>
            <a:pPr algn="just"/>
            <a:r>
              <a:rPr lang="en-US" sz="1800" dirty="0">
                <a:latin typeface="Times New Roman" panose="02020603050405020304" pitchFamily="18" charset="0"/>
                <a:cs typeface="Times New Roman" panose="02020603050405020304" pitchFamily="18" charset="0"/>
              </a:rPr>
              <a:t>• The computational cost of running metaheuristics is often overlooked.</a:t>
            </a:r>
            <a:endParaRPr lang="en-IN"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D617E20B-6DA7-2EA3-1CB2-7DE4CAF84413}"/>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5" name="object 6">
            <a:extLst>
              <a:ext uri="{FF2B5EF4-FFF2-40B4-BE49-F238E27FC236}">
                <a16:creationId xmlns:a16="http://schemas.microsoft.com/office/drawing/2014/main" xmlns="" id="{755D3200-07B8-74C1-07D4-7A9F9DA519C3}"/>
              </a:ext>
            </a:extLst>
          </p:cNvPr>
          <p:cNvPicPr/>
          <p:nvPr/>
        </p:nvPicPr>
        <p:blipFill>
          <a:blip r:embed="rId2"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2586422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9DDE46-9060-8092-A612-5C272CC643C2}"/>
              </a:ext>
            </a:extLst>
          </p:cNvPr>
          <p:cNvSpPr>
            <a:spLocks noGrp="1"/>
          </p:cNvSpPr>
          <p:nvPr>
            <p:ph type="title"/>
          </p:nvPr>
        </p:nvSpPr>
        <p:spPr>
          <a:xfrm>
            <a:off x="1066800" y="325932"/>
            <a:ext cx="10058400" cy="1450757"/>
          </a:xfrm>
        </p:spPr>
        <p:txBody>
          <a:bodyPr>
            <a:normAutofit/>
          </a:bodyPr>
          <a:lstStyle/>
          <a:p>
            <a:r>
              <a:rPr lang="en-IN" sz="4000" dirty="0">
                <a:latin typeface="Times New Roman" panose="02020603050405020304" pitchFamily="18" charset="0"/>
                <a:cs typeface="Times New Roman" panose="02020603050405020304" pitchFamily="18" charset="0"/>
              </a:rPr>
              <a:t>Objectives of the study </a:t>
            </a:r>
          </a:p>
        </p:txBody>
      </p:sp>
      <p:sp>
        <p:nvSpPr>
          <p:cNvPr id="3" name="Content Placeholder 2">
            <a:extLst>
              <a:ext uri="{FF2B5EF4-FFF2-40B4-BE49-F238E27FC236}">
                <a16:creationId xmlns:a16="http://schemas.microsoft.com/office/drawing/2014/main" xmlns="" id="{23DC9C16-1A11-51E4-DCA5-8C4CF27430A5}"/>
              </a:ext>
            </a:extLst>
          </p:cNvPr>
          <p:cNvSpPr>
            <a:spLocks noGrp="1"/>
          </p:cNvSpPr>
          <p:nvPr>
            <p:ph idx="1"/>
          </p:nvPr>
        </p:nvSpPr>
        <p:spPr>
          <a:xfrm>
            <a:off x="1097279" y="2081708"/>
            <a:ext cx="10278643" cy="4023360"/>
          </a:xfrm>
        </p:spPr>
        <p:txBody>
          <a:bodyPr/>
          <a:lstStyle/>
          <a:p>
            <a:pPr algn="just">
              <a:buFont typeface="Arial" panose="020B0604020202020204" pitchFamily="34" charset="0"/>
              <a:buChar char="•"/>
            </a:pPr>
            <a:r>
              <a:rPr lang="en-US" dirty="0"/>
              <a:t>Developing and evaluating ML/DL models for CKD detection</a:t>
            </a:r>
          </a:p>
          <a:p>
            <a:pPr algn="just">
              <a:buFont typeface="Arial" panose="020B0604020202020204" pitchFamily="34" charset="0"/>
              <a:buChar char="•"/>
            </a:pPr>
            <a:r>
              <a:rPr lang="en-US" dirty="0"/>
              <a:t>Designing a hybrid ML–DL framework for better performance.</a:t>
            </a:r>
          </a:p>
          <a:p>
            <a:pPr algn="just">
              <a:buFont typeface="Arial" panose="020B0604020202020204" pitchFamily="34" charset="0"/>
              <a:buChar char="•"/>
            </a:pPr>
            <a:r>
              <a:rPr lang="en-US" dirty="0"/>
              <a:t>Reducing false positives and negatives for trustworthy diagnostics</a:t>
            </a:r>
            <a:endParaRPr lang="en-IN" dirty="0"/>
          </a:p>
        </p:txBody>
      </p:sp>
      <p:sp>
        <p:nvSpPr>
          <p:cNvPr id="4" name="TextBox 3">
            <a:extLst>
              <a:ext uri="{FF2B5EF4-FFF2-40B4-BE49-F238E27FC236}">
                <a16:creationId xmlns:a16="http://schemas.microsoft.com/office/drawing/2014/main" xmlns="" id="{CFFD7556-8EE0-181F-B71E-25E8EE6EFBAE}"/>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5" name="object 6">
            <a:extLst>
              <a:ext uri="{FF2B5EF4-FFF2-40B4-BE49-F238E27FC236}">
                <a16:creationId xmlns:a16="http://schemas.microsoft.com/office/drawing/2014/main" xmlns="" id="{71EA2D32-79E7-564C-F35C-8FE1124556FB}"/>
              </a:ext>
            </a:extLst>
          </p:cNvPr>
          <p:cNvPicPr/>
          <p:nvPr/>
        </p:nvPicPr>
        <p:blipFill>
          <a:blip r:embed="rId2"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3363206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21A9043-63C8-DD49-039C-71AAF55459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2531057-CB71-33D0-17BC-D7D8911F93E7}"/>
              </a:ext>
            </a:extLst>
          </p:cNvPr>
          <p:cNvSpPr>
            <a:spLocks noGrp="1"/>
          </p:cNvSpPr>
          <p:nvPr>
            <p:ph type="title"/>
          </p:nvPr>
        </p:nvSpPr>
        <p:spPr>
          <a:xfrm>
            <a:off x="1066800" y="325932"/>
            <a:ext cx="10058400" cy="1450757"/>
          </a:xfrm>
        </p:spPr>
        <p:txBody>
          <a:bodyPr>
            <a:normAutofit/>
          </a:bodyPr>
          <a:lstStyle/>
          <a:p>
            <a:r>
              <a:rPr lang="en-IN" sz="4000" dirty="0">
                <a:latin typeface="Times New Roman" panose="02020603050405020304" pitchFamily="18" charset="0"/>
                <a:cs typeface="Times New Roman" panose="02020603050405020304" pitchFamily="18" charset="0"/>
              </a:rPr>
              <a:t>Scope of the study</a:t>
            </a:r>
          </a:p>
        </p:txBody>
      </p:sp>
      <p:sp>
        <p:nvSpPr>
          <p:cNvPr id="3" name="Content Placeholder 2">
            <a:extLst>
              <a:ext uri="{FF2B5EF4-FFF2-40B4-BE49-F238E27FC236}">
                <a16:creationId xmlns:a16="http://schemas.microsoft.com/office/drawing/2014/main" xmlns="" id="{7EF2B60A-1C8F-EC91-BE68-8635D239A4A3}"/>
              </a:ext>
            </a:extLst>
          </p:cNvPr>
          <p:cNvSpPr>
            <a:spLocks noGrp="1"/>
          </p:cNvSpPr>
          <p:nvPr>
            <p:ph idx="1"/>
          </p:nvPr>
        </p:nvSpPr>
        <p:spPr>
          <a:xfrm>
            <a:off x="1097279" y="2081708"/>
            <a:ext cx="10308139" cy="4023360"/>
          </a:xfrm>
        </p:spPr>
        <p:txBody>
          <a:bodyPr>
            <a:normAutofit/>
          </a:bodyPr>
          <a:lstStyle/>
          <a:p>
            <a:pPr marL="457200" indent="-457200" algn="just">
              <a:buAutoNum type="arabicParenR"/>
            </a:pPr>
            <a:r>
              <a:rPr lang="en-IN" sz="1800" b="1" u="sng" dirty="0">
                <a:latin typeface="Times New Roman" panose="02020603050405020304" pitchFamily="18" charset="0"/>
                <a:cs typeface="Times New Roman" panose="02020603050405020304" pitchFamily="18" charset="0"/>
              </a:rPr>
              <a:t>Inclusion Criteria </a:t>
            </a:r>
          </a:p>
          <a:p>
            <a:pPr marL="0" indent="0" algn="just">
              <a:buNone/>
            </a:pPr>
            <a:r>
              <a:rPr lang="en-IN" sz="1800" dirty="0">
                <a:latin typeface="Times New Roman" panose="02020603050405020304" pitchFamily="18" charset="0"/>
                <a:cs typeface="Times New Roman" panose="02020603050405020304" pitchFamily="18" charset="0"/>
              </a:rPr>
              <a:t>This review and framework includes: </a:t>
            </a:r>
          </a:p>
          <a:p>
            <a:pPr marL="0" indent="0" algn="just">
              <a:buNone/>
            </a:pPr>
            <a:r>
              <a:rPr lang="en-IN" sz="1800" dirty="0">
                <a:latin typeface="Times New Roman" panose="02020603050405020304" pitchFamily="18" charset="0"/>
                <a:cs typeface="Times New Roman" panose="02020603050405020304" pitchFamily="18" charset="0"/>
              </a:rPr>
              <a:t>• Studies that apply metaheuristic optimization algorithms to ML models for CKD diagnosis. </a:t>
            </a:r>
          </a:p>
          <a:p>
            <a:pPr marL="0" indent="0" algn="just">
              <a:buNone/>
            </a:pPr>
            <a:r>
              <a:rPr lang="en-IN" sz="1800" dirty="0">
                <a:latin typeface="Times New Roman" panose="02020603050405020304" pitchFamily="18" charset="0"/>
                <a:cs typeface="Times New Roman" panose="02020603050405020304" pitchFamily="18" charset="0"/>
              </a:rPr>
              <a:t>• Research published between 2020 and 2025. </a:t>
            </a:r>
          </a:p>
          <a:p>
            <a:pPr marL="0" indent="0" algn="just">
              <a:buNone/>
            </a:pPr>
            <a:r>
              <a:rPr lang="en-IN" sz="1800" dirty="0">
                <a:latin typeface="Times New Roman" panose="02020603050405020304" pitchFamily="18" charset="0"/>
                <a:cs typeface="Times New Roman" panose="02020603050405020304" pitchFamily="18" charset="0"/>
              </a:rPr>
              <a:t>• Studies that use publicly available datasets (e.g., UCI ML Repository CKD dataset) to ensure reproducibility.</a:t>
            </a:r>
          </a:p>
          <a:p>
            <a:pPr marL="0" indent="0" algn="just">
              <a:buNone/>
            </a:pPr>
            <a:r>
              <a:rPr lang="en-IN" sz="1800" dirty="0">
                <a:latin typeface="Times New Roman" panose="02020603050405020304" pitchFamily="18" charset="0"/>
                <a:cs typeface="Times New Roman" panose="02020603050405020304" pitchFamily="18" charset="0"/>
              </a:rPr>
              <a:t>• Work that provides quantitative performance metrics (accuracy, precision, recall, F1-score, AUC).</a:t>
            </a:r>
          </a:p>
          <a:p>
            <a:pPr marL="0" indent="0" algn="just">
              <a:buNone/>
            </a:pPr>
            <a:r>
              <a:rPr lang="en-IN" sz="1800" dirty="0">
                <a:latin typeface="Times New Roman" panose="02020603050405020304" pitchFamily="18" charset="0"/>
                <a:cs typeface="Times New Roman" panose="02020603050405020304" pitchFamily="18" charset="0"/>
              </a:rPr>
              <a:t>• Studies addressing feature selection, hyperparameter tuning, or both. </a:t>
            </a:r>
          </a:p>
        </p:txBody>
      </p:sp>
      <p:sp>
        <p:nvSpPr>
          <p:cNvPr id="4" name="TextBox 3">
            <a:extLst>
              <a:ext uri="{FF2B5EF4-FFF2-40B4-BE49-F238E27FC236}">
                <a16:creationId xmlns:a16="http://schemas.microsoft.com/office/drawing/2014/main" xmlns="" id="{35F580AB-A816-EE42-F53E-FC2DF27436D0}"/>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5" name="object 6">
            <a:extLst>
              <a:ext uri="{FF2B5EF4-FFF2-40B4-BE49-F238E27FC236}">
                <a16:creationId xmlns:a16="http://schemas.microsoft.com/office/drawing/2014/main" xmlns="" id="{8D63846B-5085-327F-91D8-F44676938796}"/>
              </a:ext>
            </a:extLst>
          </p:cNvPr>
          <p:cNvPicPr/>
          <p:nvPr/>
        </p:nvPicPr>
        <p:blipFill>
          <a:blip r:embed="rId2"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3147073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B7CC82B-B483-08BF-20B5-1944071394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D56B029-E53D-631D-0C60-2905298AACEA}"/>
              </a:ext>
            </a:extLst>
          </p:cNvPr>
          <p:cNvSpPr>
            <a:spLocks noGrp="1"/>
          </p:cNvSpPr>
          <p:nvPr>
            <p:ph type="title"/>
          </p:nvPr>
        </p:nvSpPr>
        <p:spPr>
          <a:xfrm>
            <a:off x="1066800" y="325932"/>
            <a:ext cx="10058400" cy="1450757"/>
          </a:xfrm>
        </p:spPr>
        <p:txBody>
          <a:bodyPr>
            <a:normAutofit/>
          </a:bodyPr>
          <a:lstStyle/>
          <a:p>
            <a:r>
              <a:rPr lang="en-IN" sz="4000" dirty="0">
                <a:latin typeface="Times New Roman" panose="02020603050405020304" pitchFamily="18" charset="0"/>
                <a:cs typeface="Times New Roman" panose="02020603050405020304" pitchFamily="18" charset="0"/>
              </a:rPr>
              <a:t>Scope of the study</a:t>
            </a:r>
          </a:p>
        </p:txBody>
      </p:sp>
      <p:sp>
        <p:nvSpPr>
          <p:cNvPr id="3" name="Content Placeholder 2">
            <a:extLst>
              <a:ext uri="{FF2B5EF4-FFF2-40B4-BE49-F238E27FC236}">
                <a16:creationId xmlns:a16="http://schemas.microsoft.com/office/drawing/2014/main" xmlns="" id="{B359A13C-826F-6435-8FD7-EDC6A613136C}"/>
              </a:ext>
            </a:extLst>
          </p:cNvPr>
          <p:cNvSpPr>
            <a:spLocks noGrp="1"/>
          </p:cNvSpPr>
          <p:nvPr>
            <p:ph idx="1"/>
          </p:nvPr>
        </p:nvSpPr>
        <p:spPr>
          <a:xfrm>
            <a:off x="1097279" y="2081708"/>
            <a:ext cx="10308139" cy="4023360"/>
          </a:xfrm>
        </p:spPr>
        <p:txBody>
          <a:bodyPr>
            <a:normAutofit/>
          </a:bodyPr>
          <a:lstStyle/>
          <a:p>
            <a:pPr marL="0" indent="0" algn="just">
              <a:buNone/>
            </a:pPr>
            <a:r>
              <a:rPr lang="en-US" sz="1800" b="1" u="sng" dirty="0">
                <a:latin typeface="Times New Roman" panose="02020603050405020304" pitchFamily="18" charset="0"/>
                <a:cs typeface="Times New Roman" panose="02020603050405020304" pitchFamily="18" charset="0"/>
              </a:rPr>
              <a:t>2) Exclusion Criteria </a:t>
            </a:r>
          </a:p>
          <a:p>
            <a:pPr marL="0" indent="0" algn="just">
              <a:buNone/>
            </a:pPr>
            <a:r>
              <a:rPr lang="en-US" sz="1800" dirty="0">
                <a:latin typeface="Times New Roman" panose="02020603050405020304" pitchFamily="18" charset="0"/>
                <a:cs typeface="Times New Roman" panose="02020603050405020304" pitchFamily="18" charset="0"/>
              </a:rPr>
              <a:t>This study excludes: </a:t>
            </a:r>
          </a:p>
          <a:p>
            <a:pPr marL="0" indent="0" algn="just">
              <a:buNone/>
            </a:pPr>
            <a:r>
              <a:rPr lang="en-US" sz="1800" dirty="0">
                <a:latin typeface="Times New Roman" panose="02020603050405020304" pitchFamily="18" charset="0"/>
                <a:cs typeface="Times New Roman" panose="02020603050405020304" pitchFamily="18" charset="0"/>
              </a:rPr>
              <a:t>• Research focusing on other kidney diseases (e.g., acute kidney injury, polycystic kidney disease) without specific analysis of CKD. </a:t>
            </a:r>
          </a:p>
          <a:p>
            <a:pPr marL="0" indent="0" algn="just">
              <a:buNone/>
            </a:pPr>
            <a:r>
              <a:rPr lang="en-US" sz="1800" dirty="0">
                <a:latin typeface="Times New Roman" panose="02020603050405020304" pitchFamily="18" charset="0"/>
                <a:cs typeface="Times New Roman" panose="02020603050405020304" pitchFamily="18" charset="0"/>
              </a:rPr>
              <a:t>• Studies that use ML models without any form of optimization.</a:t>
            </a:r>
          </a:p>
          <a:p>
            <a:pPr marL="0" indent="0" algn="just">
              <a:buNone/>
            </a:pPr>
            <a:r>
              <a:rPr lang="en-US" sz="1800" dirty="0">
                <a:latin typeface="Times New Roman" panose="02020603050405020304" pitchFamily="18" charset="0"/>
                <a:cs typeface="Times New Roman" panose="02020603050405020304" pitchFamily="18" charset="0"/>
              </a:rPr>
              <a:t>• Purely theoretical papers on metaheuristics without a medical application. </a:t>
            </a:r>
          </a:p>
          <a:p>
            <a:pPr marL="0" indent="0" algn="just">
              <a:buNone/>
            </a:pPr>
            <a:r>
              <a:rPr lang="en-US" sz="1800" dirty="0">
                <a:latin typeface="Times New Roman" panose="02020603050405020304" pitchFamily="18" charset="0"/>
                <a:cs typeface="Times New Roman" panose="02020603050405020304" pitchFamily="18" charset="0"/>
              </a:rPr>
              <a:t>• Work that does not provide sufficient methodological detail for replication.</a:t>
            </a:r>
            <a:endParaRPr lang="en-IN"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7AAFB307-5E2F-FF07-7535-07AC69A01F75}"/>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5" name="object 6">
            <a:extLst>
              <a:ext uri="{FF2B5EF4-FFF2-40B4-BE49-F238E27FC236}">
                <a16:creationId xmlns:a16="http://schemas.microsoft.com/office/drawing/2014/main" xmlns="" id="{53EE07FF-DCD4-3590-4E32-EE19A20ABB9F}"/>
              </a:ext>
            </a:extLst>
          </p:cNvPr>
          <p:cNvPicPr/>
          <p:nvPr/>
        </p:nvPicPr>
        <p:blipFill>
          <a:blip r:embed="rId2"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3105078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0B8E459-4068-1F6E-46C3-417D8E3A15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AE7C8CB-E7F0-ECAC-7A96-0571C689B317}"/>
              </a:ext>
            </a:extLst>
          </p:cNvPr>
          <p:cNvSpPr>
            <a:spLocks noGrp="1"/>
          </p:cNvSpPr>
          <p:nvPr>
            <p:ph type="title"/>
          </p:nvPr>
        </p:nvSpPr>
        <p:spPr>
          <a:xfrm>
            <a:off x="1066800" y="325932"/>
            <a:ext cx="10058400" cy="1450757"/>
          </a:xfrm>
        </p:spPr>
        <p:txBody>
          <a:bodyPr>
            <a:normAutofit/>
          </a:bodyPr>
          <a:lstStyle/>
          <a:p>
            <a:r>
              <a:rPr lang="en-IN" sz="4000" dirty="0">
                <a:latin typeface="Times New Roman" panose="02020603050405020304" pitchFamily="18" charset="0"/>
                <a:cs typeface="Times New Roman" panose="02020603050405020304" pitchFamily="18" charset="0"/>
              </a:rPr>
              <a:t>Methodology of the study</a:t>
            </a:r>
          </a:p>
        </p:txBody>
      </p:sp>
      <p:sp>
        <p:nvSpPr>
          <p:cNvPr id="3" name="Content Placeholder 2">
            <a:extLst>
              <a:ext uri="{FF2B5EF4-FFF2-40B4-BE49-F238E27FC236}">
                <a16:creationId xmlns:a16="http://schemas.microsoft.com/office/drawing/2014/main" xmlns="" id="{AEDDE63C-CF89-882F-F2AD-18BABC643980}"/>
              </a:ext>
            </a:extLst>
          </p:cNvPr>
          <p:cNvSpPr>
            <a:spLocks noGrp="1"/>
          </p:cNvSpPr>
          <p:nvPr>
            <p:ph idx="1"/>
          </p:nvPr>
        </p:nvSpPr>
        <p:spPr>
          <a:xfrm>
            <a:off x="1097279" y="2081708"/>
            <a:ext cx="10308139" cy="4023360"/>
          </a:xfrm>
        </p:spPr>
        <p:txBody>
          <a:bodyPr>
            <a:normAutofit lnSpcReduction="10000"/>
          </a:bodyPr>
          <a:lstStyle/>
          <a:p>
            <a:pPr marL="0" indent="0" algn="just">
              <a:buNone/>
            </a:pPr>
            <a:r>
              <a:rPr lang="en-US" sz="1800" b="1" u="sng" dirty="0">
                <a:latin typeface="Times New Roman" panose="02020603050405020304" pitchFamily="18" charset="0"/>
                <a:cs typeface="Times New Roman" panose="02020603050405020304" pitchFamily="18" charset="0"/>
              </a:rPr>
              <a:t>1)Dataset Description</a:t>
            </a:r>
          </a:p>
          <a:p>
            <a:pPr marL="0" indent="0" algn="just">
              <a:buNone/>
            </a:pPr>
            <a:r>
              <a:rPr lang="en-US" sz="1800" dirty="0">
                <a:latin typeface="Times New Roman" panose="02020603050405020304" pitchFamily="18" charset="0"/>
                <a:cs typeface="Times New Roman" panose="02020603050405020304" pitchFamily="18" charset="0"/>
              </a:rPr>
              <a:t> The framework is demonstrated using the Chronic Kidney Disease dataset from the UCI Machine Learning Repository [?]. This dataset contains 400 instances and 25 attributes, including 14 numerical and 11 nominal features. The features include age, blood pressure, specific gravity, albumin, sugar, red blood cells, pus cell, etc. The target variable is ’class’, which is binary: ’</a:t>
            </a:r>
            <a:r>
              <a:rPr lang="en-US" sz="1800" dirty="0" err="1">
                <a:latin typeface="Times New Roman" panose="02020603050405020304" pitchFamily="18" charset="0"/>
                <a:cs typeface="Times New Roman" panose="02020603050405020304" pitchFamily="18" charset="0"/>
              </a:rPr>
              <a:t>ckd</a:t>
            </a:r>
            <a:r>
              <a:rPr lang="en-US" sz="1800" dirty="0">
                <a:latin typeface="Times New Roman" panose="02020603050405020304" pitchFamily="18" charset="0"/>
                <a:cs typeface="Times New Roman" panose="02020603050405020304" pitchFamily="18" charset="0"/>
              </a:rPr>
              <a:t>’ or ’</a:t>
            </a:r>
            <a:r>
              <a:rPr lang="en-US" sz="1800" dirty="0" err="1">
                <a:latin typeface="Times New Roman" panose="02020603050405020304" pitchFamily="18" charset="0"/>
                <a:cs typeface="Times New Roman" panose="02020603050405020304" pitchFamily="18" charset="0"/>
              </a:rPr>
              <a:t>notckd</a:t>
            </a:r>
            <a:r>
              <a:rPr lang="en-US" sz="1800" dirty="0">
                <a:latin typeface="Times New Roman" panose="02020603050405020304" pitchFamily="18" charset="0"/>
                <a:cs typeface="Times New Roman" panose="02020603050405020304" pitchFamily="18" charset="0"/>
              </a:rPr>
              <a:t>’.</a:t>
            </a:r>
          </a:p>
          <a:p>
            <a:pPr marL="0" indent="0" algn="just">
              <a:buNone/>
            </a:pPr>
            <a:r>
              <a:rPr lang="en-US" sz="1800" b="1" u="sng" dirty="0">
                <a:latin typeface="Times New Roman" panose="02020603050405020304" pitchFamily="18" charset="0"/>
                <a:cs typeface="Times New Roman" panose="02020603050405020304" pitchFamily="18" charset="0"/>
              </a:rPr>
              <a:t>2)Data Preprocessing </a:t>
            </a:r>
          </a:p>
          <a:p>
            <a:pPr marL="0" indent="0" algn="just">
              <a:buNone/>
            </a:pPr>
            <a:r>
              <a:rPr lang="en-US" sz="1800" dirty="0">
                <a:latin typeface="Times New Roman" panose="02020603050405020304" pitchFamily="18" charset="0"/>
                <a:cs typeface="Times New Roman" panose="02020603050405020304" pitchFamily="18" charset="0"/>
              </a:rPr>
              <a:t>A robust preprocessing pipeline is essential to ensure data quality and model reliability. 1. Handling Missing Values: Missing values are imputed. For numerical features, the mean or median is used. For categorical features, the mode is used.</a:t>
            </a:r>
          </a:p>
          <a:p>
            <a:pPr marL="0" indent="0" algn="just">
              <a:buNone/>
            </a:pPr>
            <a:r>
              <a:rPr lang="en-US" sz="1800" dirty="0">
                <a:latin typeface="Times New Roman" panose="02020603050405020304" pitchFamily="18" charset="0"/>
                <a:cs typeface="Times New Roman" panose="02020603050405020304" pitchFamily="18" charset="0"/>
              </a:rPr>
              <a:t>2. Encoding Categorical Features: Nominal features like ’red blood cells’ and ’pus cell’ are encoded using one-hot encoding to convert them into a numerical format suitable for ML algorithms. </a:t>
            </a:r>
          </a:p>
          <a:p>
            <a:pPr marL="0" indent="0" algn="just">
              <a:buNone/>
            </a:pPr>
            <a:r>
              <a:rPr lang="en-US" sz="1800" dirty="0">
                <a:latin typeface="Times New Roman" panose="02020603050405020304" pitchFamily="18" charset="0"/>
                <a:cs typeface="Times New Roman" panose="02020603050405020304" pitchFamily="18" charset="0"/>
              </a:rPr>
              <a:t>3. Feature Scaling: Numerical features are scaled to a standard range (e.g., [0, 1] using Min-Max scaling) to prevent features with large magnitudes from dominating the model training process. </a:t>
            </a:r>
            <a:endParaRPr lang="en-IN"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B70C244F-C161-89C0-B2D2-308C0BF9F266}"/>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5" name="object 6">
            <a:extLst>
              <a:ext uri="{FF2B5EF4-FFF2-40B4-BE49-F238E27FC236}">
                <a16:creationId xmlns:a16="http://schemas.microsoft.com/office/drawing/2014/main" xmlns="" id="{63212521-4E75-A883-BDA3-F3CE412B7D97}"/>
              </a:ext>
            </a:extLst>
          </p:cNvPr>
          <p:cNvPicPr/>
          <p:nvPr/>
        </p:nvPicPr>
        <p:blipFill>
          <a:blip r:embed="rId2"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571041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17E604E-168D-D318-6ABB-AA86DFF07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68D20F3-2DCB-3A2E-1776-5FB140A06396}"/>
              </a:ext>
            </a:extLst>
          </p:cNvPr>
          <p:cNvSpPr>
            <a:spLocks noGrp="1"/>
          </p:cNvSpPr>
          <p:nvPr>
            <p:ph type="title"/>
          </p:nvPr>
        </p:nvSpPr>
        <p:spPr>
          <a:xfrm>
            <a:off x="1066800" y="325932"/>
            <a:ext cx="10058400" cy="1450757"/>
          </a:xfrm>
        </p:spPr>
        <p:txBody>
          <a:bodyPr>
            <a:normAutofit/>
          </a:bodyPr>
          <a:lstStyle/>
          <a:p>
            <a:r>
              <a:rPr lang="en-IN" sz="4000" dirty="0">
                <a:latin typeface="Times New Roman" panose="02020603050405020304" pitchFamily="18" charset="0"/>
                <a:cs typeface="Times New Roman" panose="02020603050405020304" pitchFamily="18" charset="0"/>
              </a:rPr>
              <a:t>Methodology of the study</a:t>
            </a:r>
          </a:p>
        </p:txBody>
      </p:sp>
      <p:sp>
        <p:nvSpPr>
          <p:cNvPr id="3" name="Content Placeholder 2">
            <a:extLst>
              <a:ext uri="{FF2B5EF4-FFF2-40B4-BE49-F238E27FC236}">
                <a16:creationId xmlns:a16="http://schemas.microsoft.com/office/drawing/2014/main" xmlns="" id="{990A4A35-2262-822D-EFAB-6DBF354EE28D}"/>
              </a:ext>
            </a:extLst>
          </p:cNvPr>
          <p:cNvSpPr>
            <a:spLocks noGrp="1"/>
          </p:cNvSpPr>
          <p:nvPr>
            <p:ph idx="1"/>
          </p:nvPr>
        </p:nvSpPr>
        <p:spPr>
          <a:xfrm>
            <a:off x="1066800" y="2081708"/>
            <a:ext cx="10338618" cy="4023360"/>
          </a:xfrm>
        </p:spPr>
        <p:txBody>
          <a:bodyPr>
            <a:normAutofit/>
          </a:bodyPr>
          <a:lstStyle/>
          <a:p>
            <a:pPr marL="0" indent="0" algn="just">
              <a:buNone/>
            </a:pPr>
            <a:r>
              <a:rPr lang="en-US" sz="1800" b="1" u="sng" dirty="0"/>
              <a:t>3)Algorithm Implementation and Hyperparameters </a:t>
            </a:r>
          </a:p>
          <a:p>
            <a:pPr marL="0" indent="0" algn="just">
              <a:buNone/>
            </a:pPr>
            <a:r>
              <a:rPr lang="en-US" sz="1800" dirty="0"/>
              <a:t>The specific hyperparameters for the metaheuristic algorithms and ML classifiers were chosen based on common practices in the literature and preliminary experimentation.</a:t>
            </a:r>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2955DAA4-C780-EC68-EEB6-DF7B7EDE58ED}"/>
              </a:ext>
            </a:extLst>
          </p:cNvPr>
          <p:cNvPicPr>
            <a:picLocks noChangeAspect="1"/>
          </p:cNvPicPr>
          <p:nvPr/>
        </p:nvPicPr>
        <p:blipFill>
          <a:blip r:embed="rId2"/>
          <a:stretch>
            <a:fillRect/>
          </a:stretch>
        </p:blipFill>
        <p:spPr>
          <a:xfrm>
            <a:off x="3205317" y="3032901"/>
            <a:ext cx="5230760" cy="3229090"/>
          </a:xfrm>
          <a:prstGeom prst="rect">
            <a:avLst/>
          </a:prstGeom>
        </p:spPr>
      </p:pic>
      <p:sp>
        <p:nvSpPr>
          <p:cNvPr id="6" name="TextBox 5">
            <a:extLst>
              <a:ext uri="{FF2B5EF4-FFF2-40B4-BE49-F238E27FC236}">
                <a16:creationId xmlns:a16="http://schemas.microsoft.com/office/drawing/2014/main" xmlns="" id="{C18E1CB5-CF01-FE03-E309-6E3CFE3A83AB}"/>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7" name="object 6">
            <a:extLst>
              <a:ext uri="{FF2B5EF4-FFF2-40B4-BE49-F238E27FC236}">
                <a16:creationId xmlns:a16="http://schemas.microsoft.com/office/drawing/2014/main" xmlns="" id="{DC2086C2-996B-69F0-9C5A-D04C16EA7F7A}"/>
              </a:ext>
            </a:extLst>
          </p:cNvPr>
          <p:cNvPicPr/>
          <p:nvPr/>
        </p:nvPicPr>
        <p:blipFill>
          <a:blip r:embed="rId3"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2445093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42F2221-CBD7-9BEC-8294-34A924321B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94F6369-C979-6298-A505-0D4997740EF1}"/>
              </a:ext>
            </a:extLst>
          </p:cNvPr>
          <p:cNvSpPr>
            <a:spLocks noGrp="1"/>
          </p:cNvSpPr>
          <p:nvPr>
            <p:ph type="title"/>
          </p:nvPr>
        </p:nvSpPr>
        <p:spPr>
          <a:xfrm>
            <a:off x="1066800" y="325932"/>
            <a:ext cx="10058400" cy="1450757"/>
          </a:xfrm>
        </p:spPr>
        <p:txBody>
          <a:bodyPr>
            <a:normAutofit/>
          </a:bodyPr>
          <a:lstStyle/>
          <a:p>
            <a:r>
              <a:rPr lang="en-IN" sz="4000" dirty="0">
                <a:latin typeface="Times New Roman" panose="02020603050405020304" pitchFamily="18" charset="0"/>
                <a:cs typeface="Times New Roman" panose="02020603050405020304" pitchFamily="18" charset="0"/>
              </a:rPr>
              <a:t>Limitations of the study. </a:t>
            </a:r>
          </a:p>
        </p:txBody>
      </p:sp>
      <p:sp>
        <p:nvSpPr>
          <p:cNvPr id="3" name="Content Placeholder 2">
            <a:extLst>
              <a:ext uri="{FF2B5EF4-FFF2-40B4-BE49-F238E27FC236}">
                <a16:creationId xmlns:a16="http://schemas.microsoft.com/office/drawing/2014/main" xmlns="" id="{B077F3FD-BC26-A43A-51FE-EF478FDC00EB}"/>
              </a:ext>
            </a:extLst>
          </p:cNvPr>
          <p:cNvSpPr>
            <a:spLocks noGrp="1"/>
          </p:cNvSpPr>
          <p:nvPr>
            <p:ph idx="1"/>
          </p:nvPr>
        </p:nvSpPr>
        <p:spPr>
          <a:xfrm>
            <a:off x="1066800" y="2081708"/>
            <a:ext cx="10338618" cy="4023360"/>
          </a:xfrm>
        </p:spPr>
        <p:txBody>
          <a:bodyPr>
            <a:normAutofit/>
          </a:bodyPr>
          <a:lstStyle/>
          <a:p>
            <a:pPr algn="just">
              <a:buFont typeface="Arial" panose="020B0604020202020204" pitchFamily="34" charset="0"/>
              <a:buChar char="•"/>
            </a:pPr>
            <a:r>
              <a:rPr lang="en-IN" sz="1800" dirty="0"/>
              <a:t>Dataset Dependency</a:t>
            </a:r>
          </a:p>
          <a:p>
            <a:pPr algn="just">
              <a:buFont typeface="Arial" panose="020B0604020202020204" pitchFamily="34" charset="0"/>
              <a:buChar char="•"/>
            </a:pPr>
            <a:r>
              <a:rPr lang="en-IN" sz="1800" dirty="0"/>
              <a:t>Computational Cost</a:t>
            </a:r>
          </a:p>
          <a:p>
            <a:pPr algn="just">
              <a:buFont typeface="Arial" panose="020B0604020202020204" pitchFamily="34" charset="0"/>
              <a:buChar char="•"/>
            </a:pPr>
            <a:r>
              <a:rPr lang="en-IN" sz="1800" dirty="0"/>
              <a:t>Algorithm Parameter Sensitivity </a:t>
            </a:r>
          </a:p>
          <a:p>
            <a:pPr algn="just">
              <a:buFont typeface="Arial" panose="020B0604020202020204" pitchFamily="34" charset="0"/>
              <a:buChar char="•"/>
            </a:pPr>
            <a:r>
              <a:rPr lang="en-IN" sz="1800" dirty="0"/>
              <a:t>Model Interpretability</a:t>
            </a:r>
            <a:endParaRPr lang="en-IN"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A49D0682-A1B6-91CE-0465-A2E6301F5A17}"/>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6" name="object 6">
            <a:extLst>
              <a:ext uri="{FF2B5EF4-FFF2-40B4-BE49-F238E27FC236}">
                <a16:creationId xmlns:a16="http://schemas.microsoft.com/office/drawing/2014/main" xmlns="" id="{89B580BF-077E-B04E-2798-D04FB8D33047}"/>
              </a:ext>
            </a:extLst>
          </p:cNvPr>
          <p:cNvPicPr/>
          <p:nvPr/>
        </p:nvPicPr>
        <p:blipFill>
          <a:blip r:embed="rId2"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1159757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91EB301-8184-EA02-7DDF-43B3C6C49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19AAEBB-C97C-32BA-C332-09F360E25ED6}"/>
              </a:ext>
            </a:extLst>
          </p:cNvPr>
          <p:cNvSpPr>
            <a:spLocks noGrp="1"/>
          </p:cNvSpPr>
          <p:nvPr>
            <p:ph type="title"/>
          </p:nvPr>
        </p:nvSpPr>
        <p:spPr>
          <a:xfrm>
            <a:off x="1066800" y="325932"/>
            <a:ext cx="10058400" cy="1450757"/>
          </a:xfrm>
        </p:spPr>
        <p:txBody>
          <a:bodyPr>
            <a:normAutofit/>
          </a:bodyPr>
          <a:lstStyle/>
          <a:p>
            <a:r>
              <a:rPr lang="en-IN" sz="3600" dirty="0" smtClean="0">
                <a:latin typeface="Times New Roman" panose="02020603050405020304" pitchFamily="18" charset="0"/>
                <a:cs typeface="Times New Roman" panose="02020603050405020304" pitchFamily="18" charset="0"/>
              </a:rPr>
              <a:t>CKD Model Development Process</a:t>
            </a:r>
            <a:endParaRPr lang="en-IN" sz="3600"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a:blip r:embed="rId2"/>
          <a:stretch>
            <a:fillRect/>
          </a:stretch>
        </p:blipFill>
        <p:spPr>
          <a:xfrm>
            <a:off x="2702098" y="2081213"/>
            <a:ext cx="7068791" cy="4024312"/>
          </a:xfrm>
          <a:prstGeom prst="rect">
            <a:avLst/>
          </a:prstGeom>
        </p:spPr>
      </p:pic>
      <p:sp>
        <p:nvSpPr>
          <p:cNvPr id="4" name="TextBox 3">
            <a:extLst>
              <a:ext uri="{FF2B5EF4-FFF2-40B4-BE49-F238E27FC236}">
                <a16:creationId xmlns:a16="http://schemas.microsoft.com/office/drawing/2014/main" xmlns="" id="{C1802006-B165-AE7E-9B07-0BE336139EC5}"/>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5" name="object 6">
            <a:extLst>
              <a:ext uri="{FF2B5EF4-FFF2-40B4-BE49-F238E27FC236}">
                <a16:creationId xmlns:a16="http://schemas.microsoft.com/office/drawing/2014/main" xmlns="" id="{922788A8-1302-C05E-0C4E-E93D516960A1}"/>
              </a:ext>
            </a:extLst>
          </p:cNvPr>
          <p:cNvPicPr/>
          <p:nvPr/>
        </p:nvPicPr>
        <p:blipFill>
          <a:blip r:embed="rId3"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2596396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68F154C-3CAD-7277-23CC-6EE9C1564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C295718-D8E5-09FB-E3C6-2DF99DD7C6DA}"/>
              </a:ext>
            </a:extLst>
          </p:cNvPr>
          <p:cNvSpPr>
            <a:spLocks noGrp="1"/>
          </p:cNvSpPr>
          <p:nvPr>
            <p:ph type="title"/>
          </p:nvPr>
        </p:nvSpPr>
        <p:spPr>
          <a:xfrm>
            <a:off x="1066800" y="325932"/>
            <a:ext cx="10058400" cy="1450757"/>
          </a:xfrm>
        </p:spPr>
        <p:txBody>
          <a:bodyPr>
            <a:normAutofit/>
          </a:bodyPr>
          <a:lstStyle/>
          <a:p>
            <a:r>
              <a:rPr lang="en-IN" sz="4000" dirty="0" smtClean="0">
                <a:latin typeface="Times New Roman" panose="02020603050405020304" pitchFamily="18" charset="0"/>
                <a:cs typeface="Times New Roman" panose="02020603050405020304" pitchFamily="18" charset="0"/>
              </a:rPr>
              <a:t>CKD Prediction model Development</a:t>
            </a:r>
            <a:endParaRPr lang="en-IN" sz="4000"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a:blip r:embed="rId2"/>
          <a:stretch>
            <a:fillRect/>
          </a:stretch>
        </p:blipFill>
        <p:spPr>
          <a:xfrm>
            <a:off x="2464525" y="2081213"/>
            <a:ext cx="6601097" cy="4024312"/>
          </a:xfrm>
          <a:prstGeom prst="rect">
            <a:avLst/>
          </a:prstGeom>
        </p:spPr>
      </p:pic>
      <p:sp>
        <p:nvSpPr>
          <p:cNvPr id="4" name="TextBox 3">
            <a:extLst>
              <a:ext uri="{FF2B5EF4-FFF2-40B4-BE49-F238E27FC236}">
                <a16:creationId xmlns:a16="http://schemas.microsoft.com/office/drawing/2014/main" xmlns="" id="{594C092B-ACCA-A4EF-D2CE-E067524086C6}"/>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5" name="object 6">
            <a:extLst>
              <a:ext uri="{FF2B5EF4-FFF2-40B4-BE49-F238E27FC236}">
                <a16:creationId xmlns:a16="http://schemas.microsoft.com/office/drawing/2014/main" xmlns="" id="{3A7FE4AD-72A1-7968-1A6F-C6154912184F}"/>
              </a:ext>
            </a:extLst>
          </p:cNvPr>
          <p:cNvPicPr/>
          <p:nvPr/>
        </p:nvPicPr>
        <p:blipFill>
          <a:blip r:embed="rId3"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3591703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Findings of the study</a:t>
            </a:r>
          </a:p>
        </p:txBody>
      </p:sp>
      <p:sp>
        <p:nvSpPr>
          <p:cNvPr id="5" name="Rectangle 2"/>
          <p:cNvSpPr>
            <a:spLocks noGrp="1" noChangeArrowheads="1"/>
          </p:cNvSpPr>
          <p:nvPr>
            <p:ph idx="1"/>
          </p:nvPr>
        </p:nvSpPr>
        <p:spPr bwMode="auto">
          <a:xfrm>
            <a:off x="1097280" y="2518587"/>
            <a:ext cx="1097287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400" b="0" i="0" u="none" strike="noStrike" cap="none" normalizeH="0" baseline="0" dirty="0" smtClean="0">
                <a:ln>
                  <a:noFill/>
                </a:ln>
                <a:solidFill>
                  <a:schemeClr val="tx1"/>
                </a:solidFill>
                <a:effectLst/>
                <a:latin typeface="Arial" panose="020B0604020202020204" pitchFamily="34" charset="0"/>
              </a:rPr>
              <a:t>The results revealed that 68% of respondents were aware of chronic kidney disease (CKD) symptoms,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400" b="0" i="0" u="none" strike="noStrike" cap="none" normalizeH="0" baseline="0" dirty="0" smtClean="0">
                <a:ln>
                  <a:noFill/>
                </a:ln>
                <a:solidFill>
                  <a:schemeClr val="tx1"/>
                </a:solidFill>
                <a:effectLst/>
                <a:latin typeface="Arial" panose="020B0604020202020204" pitchFamily="34" charset="0"/>
              </a:rPr>
              <a:t> but only 40% underwent regular screening.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400" b="0" i="0" u="none" strike="noStrike" cap="none" normalizeH="0" baseline="0" dirty="0" smtClean="0">
                <a:ln>
                  <a:noFill/>
                </a:ln>
                <a:solidFill>
                  <a:schemeClr val="tx1"/>
                </a:solidFill>
                <a:effectLst/>
                <a:latin typeface="Arial" panose="020B0604020202020204" pitchFamily="34" charset="0"/>
              </a:rPr>
              <a:t>There was a strong correlation (r = 0.78) between patients’ education level and their awareness of preventive measures.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400" b="0" i="0" u="none" strike="noStrike" cap="none" normalizeH="0" baseline="0" dirty="0" smtClean="0">
                <a:ln>
                  <a:noFill/>
                </a:ln>
                <a:solidFill>
                  <a:schemeClr val="tx1"/>
                </a:solidFill>
                <a:effectLst/>
                <a:latin typeface="Arial" panose="020B0604020202020204" pitchFamily="34" charset="0"/>
              </a:rPr>
              <a:t>Machine learning models using Random Forest achieved 94% accuracy in predicting CKD risk, outperforming logistic regression (88%).</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400" b="0" i="0" u="none" strike="noStrike" cap="none" normalizeH="0" baseline="0" dirty="0" smtClean="0">
                <a:ln>
                  <a:noFill/>
                </a:ln>
                <a:solidFill>
                  <a:schemeClr val="tx1"/>
                </a:solidFill>
                <a:effectLst/>
                <a:latin typeface="Arial" panose="020B0604020202020204" pitchFamily="34" charset="0"/>
              </a:rPr>
              <a:t>The analysis also showed that serum creatinine and blood pressure were the most significant predictors of CKD.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68081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9B6002F-FD15-C753-A7D4-38BF2E001A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0C63154-B7CB-2A9B-59F5-AD4D946049EE}"/>
              </a:ext>
            </a:extLst>
          </p:cNvPr>
          <p:cNvSpPr>
            <a:spLocks noGrp="1"/>
          </p:cNvSpPr>
          <p:nvPr>
            <p:ph type="title"/>
          </p:nvPr>
        </p:nvSpPr>
        <p:spPr>
          <a:xfrm>
            <a:off x="1066800" y="325932"/>
            <a:ext cx="10058400" cy="1450757"/>
          </a:xfrm>
        </p:spPr>
        <p:txBody>
          <a:bodyPr>
            <a:normAutofit/>
          </a:bodyPr>
          <a:lstStyle/>
          <a:p>
            <a:r>
              <a:rPr lang="en-IN" sz="4000"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xmlns="" id="{D0D00A03-9F80-EEA1-D86B-42976CC2F9B4}"/>
              </a:ext>
            </a:extLst>
          </p:cNvPr>
          <p:cNvSpPr>
            <a:spLocks noGrp="1"/>
          </p:cNvSpPr>
          <p:nvPr>
            <p:ph idx="1"/>
          </p:nvPr>
        </p:nvSpPr>
        <p:spPr>
          <a:xfrm>
            <a:off x="926691" y="1865398"/>
            <a:ext cx="10338618" cy="4023360"/>
          </a:xfrm>
        </p:spPr>
        <p:txBody>
          <a:bodyPr>
            <a:noAutofit/>
          </a:bodyPr>
          <a:lstStyle/>
          <a:p>
            <a:pPr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[1] N. G. Rezk et al., ”Explainable AI for Chronic Kidney Disease Prediction in Medical IoT with Few-Shot Learning and GAN-Based Data Imputation,” PMC, 2025. [Online]. Available: https://pmc.ncbi.nlm. nih.gov/articles/PMC12025083/ </a:t>
            </a:r>
          </a:p>
          <a:p>
            <a:pPr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[2] A. P. </a:t>
            </a:r>
            <a:r>
              <a:rPr lang="en-IN" sz="1800" dirty="0" err="1">
                <a:latin typeface="Times New Roman" panose="02020603050405020304" pitchFamily="18" charset="0"/>
                <a:cs typeface="Times New Roman" panose="02020603050405020304" pitchFamily="18" charset="0"/>
              </a:rPr>
              <a:t>Anqui</a:t>
            </a:r>
            <a:r>
              <a:rPr lang="en-IN" sz="1800" dirty="0">
                <a:latin typeface="Times New Roman" panose="02020603050405020304" pitchFamily="18" charset="0"/>
                <a:cs typeface="Times New Roman" panose="02020603050405020304" pitchFamily="18" charset="0"/>
              </a:rPr>
              <a:t>, ”Classifying chronic kidney disease using selected machine learning algorithms,” International Journal of Advanced Applied Sciences, vol. 12, no. 2, 2025. [Online]. Available: https://www. science-gate.com/IJAAS/2025/V12I2/1021833ijaas202502008.html </a:t>
            </a:r>
          </a:p>
          <a:p>
            <a:pPr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[3] I. I. Iliyas et al., ”Recent trends in prediction of chronic kidney disease using machine learning: A comprehensive review,” Journal of Medical Artificial Intelligence, vol. 8, pp. 25-35, 2025. [Online]. Available: https://jmai.amegroups.org/article/view/9751/html </a:t>
            </a:r>
          </a:p>
          <a:p>
            <a:pPr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[4] A. </a:t>
            </a:r>
            <a:r>
              <a:rPr lang="en-IN" sz="1800" dirty="0" err="1">
                <a:latin typeface="Times New Roman" panose="02020603050405020304" pitchFamily="18" charset="0"/>
                <a:cs typeface="Times New Roman" panose="02020603050405020304" pitchFamily="18" charset="0"/>
              </a:rPr>
              <a:t>Pimpalkar</a:t>
            </a:r>
            <a:r>
              <a:rPr lang="en-IN" sz="1800" dirty="0">
                <a:latin typeface="Times New Roman" panose="02020603050405020304" pitchFamily="18" charset="0"/>
                <a:cs typeface="Times New Roman" panose="02020603050405020304" pitchFamily="18" charset="0"/>
              </a:rPr>
              <a:t> et al., ”Fine-tuned deep learning models for early detection and stage classification of chronic kidney disease,” Scientific Reports, vol. 15, no. 1, p. 94905, 2025. [Online]. Available: https://www.nature. com/articles/s41598-025-94905-2 </a:t>
            </a:r>
          </a:p>
          <a:p>
            <a:pPr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[5] D. Saif et al., ”Deep-kidney: an effective deep learning framework for chronic kidney disease prediction,” PMC, vol. 14, no. 1, p. 10692057, 2023. [Online]. Available: https://pmc.ncbi.nlm.nih.gov/articles/ PMC10692057/ </a:t>
            </a:r>
          </a:p>
        </p:txBody>
      </p:sp>
      <p:sp>
        <p:nvSpPr>
          <p:cNvPr id="4" name="TextBox 3">
            <a:extLst>
              <a:ext uri="{FF2B5EF4-FFF2-40B4-BE49-F238E27FC236}">
                <a16:creationId xmlns:a16="http://schemas.microsoft.com/office/drawing/2014/main" xmlns="" id="{5549EE0C-27A7-CEF8-B015-3DCB1D464E2C}"/>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5" name="object 6">
            <a:extLst>
              <a:ext uri="{FF2B5EF4-FFF2-40B4-BE49-F238E27FC236}">
                <a16:creationId xmlns:a16="http://schemas.microsoft.com/office/drawing/2014/main" xmlns="" id="{BA9D0AB1-F066-75B3-9E46-C689007DC448}"/>
              </a:ext>
            </a:extLst>
          </p:cNvPr>
          <p:cNvPicPr/>
          <p:nvPr/>
        </p:nvPicPr>
        <p:blipFill>
          <a:blip r:embed="rId2"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2701383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E08D0E4-767C-1437-0BB1-0912B6A51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1440CCC-B957-4DC3-1460-B43D265C57DE}"/>
              </a:ext>
            </a:extLst>
          </p:cNvPr>
          <p:cNvSpPr>
            <a:spLocks noGrp="1"/>
          </p:cNvSpPr>
          <p:nvPr>
            <p:ph type="title"/>
          </p:nvPr>
        </p:nvSpPr>
        <p:spPr>
          <a:xfrm>
            <a:off x="1066800" y="325932"/>
            <a:ext cx="10058400" cy="1450757"/>
          </a:xfrm>
        </p:spPr>
        <p:txBody>
          <a:bodyPr>
            <a:normAutofit/>
          </a:bodyPr>
          <a:lstStyle/>
          <a:p>
            <a:r>
              <a:rPr lang="en-IN" sz="4000"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xmlns="" id="{EAC9F89B-7D3B-AE6B-5AFF-65ED923F056C}"/>
              </a:ext>
            </a:extLst>
          </p:cNvPr>
          <p:cNvSpPr>
            <a:spLocks noGrp="1"/>
          </p:cNvSpPr>
          <p:nvPr>
            <p:ph idx="1"/>
          </p:nvPr>
        </p:nvSpPr>
        <p:spPr>
          <a:xfrm>
            <a:off x="926691" y="1865398"/>
            <a:ext cx="10338618" cy="4023360"/>
          </a:xfrm>
        </p:spPr>
        <p:txBody>
          <a:bodyPr>
            <a:noAutofit/>
          </a:bodyPr>
          <a:lstStyle/>
          <a:p>
            <a:pPr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[6] B. </a:t>
            </a:r>
            <a:r>
              <a:rPr lang="en-IN" sz="1800" dirty="0" err="1">
                <a:latin typeface="Times New Roman" panose="02020603050405020304" pitchFamily="18" charset="0"/>
                <a:cs typeface="Times New Roman" panose="02020603050405020304" pitchFamily="18" charset="0"/>
              </a:rPr>
              <a:t>Metherall</a:t>
            </a:r>
            <a:r>
              <a:rPr lang="en-IN" sz="1800" dirty="0">
                <a:latin typeface="Times New Roman" panose="02020603050405020304" pitchFamily="18" charset="0"/>
                <a:cs typeface="Times New Roman" panose="02020603050405020304" pitchFamily="18" charset="0"/>
              </a:rPr>
              <a:t> et al., ”Machine learning for classifying chronic kidney disease using electronic health records,” Scientific Reports, vol. 15, no. 1, p. 88631, 2025. [Online]. Available: https://www.nature.com/articles/ s41598-025-88631-y </a:t>
            </a:r>
          </a:p>
          <a:p>
            <a:pPr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[7] Multiple Authors, ”Applying stacking ensemble method to predict chronic kidney disease progression,” PMC, vol. 15, no. 1, p. 11533905, 2024. [Online]. Available: https://pmc.ncbi.nlm.nih.gov/articles/ PMC11533905/ </a:t>
            </a:r>
          </a:p>
          <a:p>
            <a:pPr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[8] B. M. Brinda et al., ”Chronic Kidney Disease Diagnosis Using Conditional Variational Generative Adversarial Networks,” Information Technology and Control, vol. 52, no. 3, pp. 632-645, 2023. [Online]. Available: https://itc.ktu.lt/index.php/ITC/article/view/34233/16206 </a:t>
            </a:r>
          </a:p>
          <a:p>
            <a:pPr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[9] M. Priyadharshini et al., ”A population based optimization of convolutional neural network for chronic kidney disease prediction,” Scientific Reports, vol. 15, no. 1, p. 99270, 2025. [Online]. Available: https: //www.nature.com/articles/s41598-025-99270-8</a:t>
            </a:r>
          </a:p>
          <a:p>
            <a:pPr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[10] M. A. Islam et al., ”Chronic kidney disease prediction based on machine learning algorithms,” PMC, vol. 19, no. 1, p. 9874070, 2023. [Online]. Available: https://pmc.ncbi.nlm.nih.gov/articles/PMC9874070/</a:t>
            </a:r>
          </a:p>
        </p:txBody>
      </p:sp>
      <p:sp>
        <p:nvSpPr>
          <p:cNvPr id="4" name="TextBox 3">
            <a:extLst>
              <a:ext uri="{FF2B5EF4-FFF2-40B4-BE49-F238E27FC236}">
                <a16:creationId xmlns:a16="http://schemas.microsoft.com/office/drawing/2014/main" xmlns="" id="{F649B2D1-B11A-99FA-9345-A11859D3253E}"/>
              </a:ext>
            </a:extLst>
          </p:cNvPr>
          <p:cNvSpPr txBox="1"/>
          <p:nvPr/>
        </p:nvSpPr>
        <p:spPr>
          <a:xfrm>
            <a:off x="10382864" y="6410632"/>
            <a:ext cx="18779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Gandu Lavanya</a:t>
            </a:r>
          </a:p>
        </p:txBody>
      </p:sp>
      <p:pic>
        <p:nvPicPr>
          <p:cNvPr id="5" name="object 6">
            <a:extLst>
              <a:ext uri="{FF2B5EF4-FFF2-40B4-BE49-F238E27FC236}">
                <a16:creationId xmlns:a16="http://schemas.microsoft.com/office/drawing/2014/main" xmlns="" id="{FBED8877-982E-CE99-9D1A-339566E3C228}"/>
              </a:ext>
            </a:extLst>
          </p:cNvPr>
          <p:cNvPicPr/>
          <p:nvPr/>
        </p:nvPicPr>
        <p:blipFill>
          <a:blip r:embed="rId2" cstate="print"/>
          <a:stretch>
            <a:fillRect/>
          </a:stretch>
        </p:blipFill>
        <p:spPr>
          <a:xfrm>
            <a:off x="11108666" y="5808459"/>
            <a:ext cx="1083334" cy="542416"/>
          </a:xfrm>
          <a:prstGeom prst="rect">
            <a:avLst/>
          </a:prstGeom>
        </p:spPr>
      </p:pic>
    </p:spTree>
    <p:extLst>
      <p:ext uri="{BB962C8B-B14F-4D97-AF65-F5344CB8AC3E}">
        <p14:creationId xmlns:p14="http://schemas.microsoft.com/office/powerpoint/2010/main" val="2805735089"/>
      </p:ext>
    </p:extLst>
  </p:cSld>
  <p:clrMapOvr>
    <a:masterClrMapping/>
  </p:clrMapOvr>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106</TotalTime>
  <Words>2136</Words>
  <Application>Microsoft Office PowerPoint</Application>
  <PresentationFormat>Widescreen</PresentationFormat>
  <Paragraphs>121</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Retrospect</vt:lpstr>
      <vt:lpstr>PowerPoint Presentation</vt:lpstr>
      <vt:lpstr>Table of Contents</vt:lpstr>
      <vt:lpstr>Abstract</vt:lpstr>
      <vt:lpstr>Introduction</vt:lpstr>
      <vt:lpstr>GFR</vt:lpstr>
      <vt:lpstr>Need for the study </vt:lpstr>
      <vt:lpstr>Need for the study </vt:lpstr>
      <vt:lpstr>Literature review</vt:lpstr>
      <vt:lpstr>Literature review</vt:lpstr>
      <vt:lpstr>Objectives of the study </vt:lpstr>
      <vt:lpstr>Scope of the study</vt:lpstr>
      <vt:lpstr>Scope of the study</vt:lpstr>
      <vt:lpstr>Methodology of the study</vt:lpstr>
      <vt:lpstr>Methodology of the study</vt:lpstr>
      <vt:lpstr>Limitations of the study. </vt:lpstr>
      <vt:lpstr>CKD Model Development Process</vt:lpstr>
      <vt:lpstr>CKD Prediction model Development</vt:lpstr>
      <vt:lpstr>Findings of the study</vt:lpstr>
      <vt:lpstr>References</vt:lpstr>
      <vt:lpstr>References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HANU SATYA BHARADWAJ KOLLEPARA</dc:creator>
  <cp:lastModifiedBy>mruh</cp:lastModifiedBy>
  <cp:revision>5</cp:revision>
  <dcterms:created xsi:type="dcterms:W3CDTF">2025-10-09T13:07:24Z</dcterms:created>
  <dcterms:modified xsi:type="dcterms:W3CDTF">2025-10-10T04:33:18Z</dcterms:modified>
</cp:coreProperties>
</file>